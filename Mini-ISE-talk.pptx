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Sai. For the next five minutes I want to show you something I built called Mini ISE — a small version of the software that decides which laptops and phones are allowed onto a company network.
I’ll explain what it does, why scaling matters for something like this, and then how it actually scales using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you anything I built, I want to set up the one idea the whole project rests on.
Every service that gets used hits the same wall eventually: more requests arriving than one machine can answer. And when you need more capacity, there are only two moves.
Up — vertical scaling. Buy a bigger machine. More cores, more memory. The big advantage is that your code doesn’t change at all; it’s close to a config line. The disadvantages are that there’s a hard ceiling — there is a biggest machine you can rent — it gets expensive quickly at the top end, and it’s still one machine. When it dies, all of it dies.
Out — horizontal scaling. Buy more machines. There’s no real ceiling, the cost per unit is lower, and losing one costs you a fraction of your capacity instead of all of it. The price is complexity: now you need a load balancer, you need to cope with machines appearing and disappearing, and your application has to stop caring which machine it lands on.
And the honest advice that most companies actually follow is: go up first. It’s simpler, and it’s usually enough for longer than people expect. Go out when you hit the ceiling, or when one machine being one outage stops being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 you don’t always get to choose. And the thing that decides it is state — whether a machine remembers anything between requests.
If your service is stateless, any machine can answer any request. Adding capacity is nearly trivial: start another copy, point the load balancer at it, done. Web servers and API servers are usually like this.
If it’s stateful, it’s a completely different problem. A specific piece of data lives on a specific machine, and the request has to find it. That’s where the hard techniques come in — replication, so there’s more than one copy; sharding, so the data is split by key; and consensus, so the copies agree on what’s actually true.
Databases are the classic stateful thing, and this is exactly why scaling a database is a genuinely hard problem while scaling a web tier is mostly a config change.
So the real design move — the one that matters — is to push state out of the things you want to scale, and concentrate it in as few places as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the theory. Here’s the thing I built, and it has exactly that problem.
Mini ISE is a small version of the software that decides which laptops and phones are allowed onto a company network. The real ones are big enterprise products — this is the same idea, small enough that I can explain all of it.
The idea it implements is zero trust. In an old corporate network, once you were inside the building, you were trusted. Zero trust throws that out: every single request gets checked, every time, and it doesn’t matter that you checked thirty seconds ago.
Four pieces. The decision service is the one that answers — a device asks "can this user, on this laptop, from this location, reach the finance database right now", and it says allow, deny or quarantine. Always with a reason, because when someone is locked out at nine in the morning, the help desk needs to know which rule did it.
The policy API is where the rules live, and where an admin can describe a rule in plain English and have Claude draft it — a person still approves it before it goes live. The console is React: that’s where admins write rules and watch decisions arrive. And the simulator throws realistic device traffic at the whole thing so there is something to watch.
Everything there is real except the devices. Real Python, real FastAPI, real Postgres, real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it actually working. These requests are invented — I’m generating fake devices — but the thing deciding is the real engine. It’s the same rule code the pods run, compiled to the browser, and it’s tested against the same set of cases in CI, so the two can’t quietly disagree.
Watch the reasons rather than the verdicts. Every answer names the rule that produced it.
And there’s the third verdict — quarantine. That’s not "we think you’re hacked". That’s a device that failed a posture check, usually an unencrypted disk. It gets a restricted segment where it can reach the tool that fixes it, and nothing else.
(In the web deck: press Start traffic, let four or five rows run, then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Top row: the React console, TypeScript, that’s where admins live. It talks to a policy API written in Python with FastAPI, which reads and writes policies in Postgres.
Bottom row, completely separate: the decision service. Also Python, also FastAPI. That’s the one answering access requests. I’ve got a simulator throwing realistic device traffic at it so there’s something to watch.
The important thing is that those are two separate services, and that was deliberate. The policy API is used by a handful of admins clicking buttons. The decision service answers thousands of requests a second. They have nothing in common in terms of load, so they shouldn’t share a fate — if an admin runs an expensive report, it should not slow down the front door.
Different load shapes, so a problem in one never becomes a problem in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the actual API, because the shape of it is the design.
The decision service has one endpoint that matters: POST /v1/decide. That’s it. That is the entire hot path — a device asks, it answers.
The other two are health checks, and they are not the same question. Healthz means "am I alive" — if that fails, Kubernetes restarts the pod. Readyz means "should I be getting traffic" — if that fails, Kubernetes simply stops sending it any. That second one is the readiness gate, and it’s what stops a brand new pod answering before its policies have loaded.
The policy API has everything else: create, read, update and delete policies, the drafting endpoint where Claude turns plain English into a policy for a person to approve, the decision log, and the stats the console charts.
And that split is the whole point. One endpoint carries all the load. Seven do admin work for a handful of people. Which is exactly why one of these services runs six pods and the other runs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actually happens inside that one endpoint.
A request comes in. The service evaluates the rules against it — in memory, in Python — and returns allow, deny or quarantine, with the reason. That is the whole path. Under a millisecond. And notice what is not on it: no database call, no cache lookup, no call to another service.
Everything that does touch the database is off to the side, and I’ve drawn it dashed. Policies come in on a background task every three seconds. Decision logs go out buffered, in batches.
That is the only really clever thing in this project: the slow thing and the fast thing were separated, so the fast thing stays fast even when the slow thing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design choice the whole thing rests on.
The policies live in memory, inside each pod. A background task refreshes them every three seconds. So when a request arrives, answering it touches no network at all — no database call, no cache lookup. It’s just Python evaluating rules against a request in memory. That’s how it stays under a millisecond.
The decision log still has to be written, obviously. But those rows get buffered and written to Postgres in batches, off the hot path. And the buffer is capped at ten thousand rows, so if the database goes away for an hour, the service doesn’t eat all its memory and fall over.
Two failure behaviours I want to call out, because I think they’re the interesting part. If Postgres disappears, the service keeps deciding, using the last policies it loaded. It degrades — it doesn’t stop. And if a pod hasn’t loaded its policies yet, it denies everything. It fails closed. In security, failing open is how you end up in the news.
The payoff: because no pod holds anything unique, any pod can answer any request. That’s the stateless property from the start of the talk. Which means I can just add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exactly what Kubernetes does. Follow the diagram left to right. At normal load I’m running two pods of the decision service. As requests arrive faster, CPU on those pods climbs. The horizontal pod autoscaler is watching that number, and when it crosses the target, Kubernetes starts new pods — up to six. The service spreads requests across all of them. When traffic drops, it scales back in, because pods cost money.
Two details that make this actually work, rather than just look good on a slide.
First — readiness. A brand new pod is not ready the moment it starts; it has to load policies first. So there’s a readiness check, and Kubernetes won’t send it a single request until it passes. Without that, scaling up would cause a burst of denials, which is worse than being slow.
Second — self-healing. If I delete a pod right now, and it’s one command, Kubernetes notices and starts a replacement, and traffic keeps flowing the whole time because the other pods are still answering. Losing one pod costs a sixth of the capacity, not all of it.
And you can watch all of it in the console — it shows decisions per pod, live, so you literally see new pods start taking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can’t bring a Kubernetes cluster into this room, so this is a simulation — it says so on the slide. The code that really does this is in the repo, and it’s one make command.
Here we are at normal load: two pods, CPU comfortable. Now I’ll turn the load up — that’s make load-high.
CPU crosses the target, and the autoscaler starts pods. Notice the new ones come up dashed — they are not taking traffic yet, because they still have to load their policies and pass the readiness check. That’s the detail that stops a scale-up causing a burst of denials.
And now let me kill one. Kubernetes notices immediately and starts a replacement, which also has to pass readiness before it gets traffic. The decision count on the other pods never stops climbing — losing one costs a sixth of the capacity, not all of it.
(In the web deck: Start, then Load: high, wait for six pods, then Kill a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honest limitation, because every system has one.
Postgres here is a single instance, and it’s the only stateful thing in the system. Which makes it, technically, a single point of failure.
What I did about it is push it off the critical path entirely. Policies are cached in memory, so a decision never reads from it. Logs are batched, so a decision never writes to it. The database being slow or gone does not stop devices getting onto the network — it just means the audit log lags behind.
If traffic went up a hundred times, I’d put the decision log behind a queue, so writes get absorbed rather than buffered in process memory, and I’d add read replicas for the console’s reporting.
I would not shard it. You shard when you have run out of other options, and I haven’t.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Mini ISE. Python and FastAPI for the two services, React and TypeScript for the console, Kubernetes for the scaling.
The code, and a page where you can try the policy engine yourself, are at these links.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20"/>
        </a:solidFill>
      </p:bgPr>
    </p:bg>
    <p:spTree>
      <p:nvGrpSpPr>
        <p:cNvPr id="1" name=""/>
        <p:cNvGrpSpPr/>
        <p:nvPr/>
      </p:nvGrpSpPr>
      <p:grpSpPr>
        <a:xfrm>
          <a:off x="0" y="0"/>
          <a:ext cx="0" cy="0"/>
          <a:chOff x="0" y="0"/>
          <a:chExt cx="0" cy="0"/>
        </a:xfrm>
      </p:grpSpPr>
      <p:sp>
        <p:nvSpPr>
          <p:cNvPr id="2" name="Text 0"/>
          <p:cNvSpPr txBox="1"/>
          <p:nvPr/>
        </p:nvSpPr>
        <p:spPr>
          <a:xfrm>
            <a:off x="777240" y="1965960"/>
            <a:ext cx="7315200" cy="274320"/>
          </a:xfrm>
          <a:prstGeom prst="rect">
            <a:avLst/>
          </a:prstGeom>
          <a:noFill/>
          <a:ln/>
        </p:spPr>
        <p:txBody>
          <a:bodyPr wrap="square" lIns="0" tIns="0" rIns="0" bIns="0" rtlCol="0" anchor="ctr"/>
          <a:lstStyle/>
          <a:p>
            <a:pPr indent="0" marL="0">
              <a:buNone/>
            </a:pPr>
            <a:r>
              <a:rPr lang="en-US" sz="1100" spc="100" kern="0" dirty="0">
                <a:solidFill>
                  <a:srgbClr val="9AA8A1"/>
                </a:solidFill>
                <a:latin typeface="Courier New" pitchFamily="34" charset="0"/>
                <a:ea typeface="Courier New" pitchFamily="34" charset="-122"/>
                <a:cs typeface="Courier New" pitchFamily="34" charset="-120"/>
              </a:rPr>
              <a:t>ZERO-TRUST NETWORK ACCESS, BUILT SMALL</a:t>
            </a:r>
            <a:endParaRPr lang="en-US" sz="1100" dirty="0"/>
          </a:p>
        </p:txBody>
      </p:sp>
      <p:sp>
        <p:nvSpPr>
          <p:cNvPr id="3" name="Text 1"/>
          <p:cNvSpPr txBox="1"/>
          <p:nvPr/>
        </p:nvSpPr>
        <p:spPr>
          <a:xfrm>
            <a:off x="731520" y="2286000"/>
            <a:ext cx="8229600" cy="1371600"/>
          </a:xfrm>
          <a:prstGeom prst="rect">
            <a:avLst/>
          </a:prstGeom>
          <a:noFill/>
          <a:ln/>
        </p:spPr>
        <p:txBody>
          <a:bodyPr wrap="square" lIns="0" tIns="0" rIns="0" bIns="0" rtlCol="0" anchor="ctr"/>
          <a:lstStyle/>
          <a:p>
            <a:pPr indent="0" marL="0">
              <a:buNone/>
            </a:pPr>
            <a:r>
              <a:rPr lang="en-US" sz="8000" b="1" dirty="0">
                <a:solidFill>
                  <a:srgbClr val="FFFFFF"/>
                </a:solidFill>
                <a:latin typeface="Arial" pitchFamily="34" charset="0"/>
                <a:ea typeface="Arial" pitchFamily="34" charset="-122"/>
                <a:cs typeface="Arial" pitchFamily="34" charset="-120"/>
              </a:rPr>
              <a:t>MINI ISE</a:t>
            </a:r>
            <a:endParaRPr lang="en-US" sz="8000" dirty="0"/>
          </a:p>
        </p:txBody>
      </p:sp>
      <p:sp>
        <p:nvSpPr>
          <p:cNvPr id="4" name="Text 2"/>
          <p:cNvSpPr txBox="1"/>
          <p:nvPr/>
        </p:nvSpPr>
        <p:spPr>
          <a:xfrm>
            <a:off x="777240" y="3703320"/>
            <a:ext cx="7315200" cy="457200"/>
          </a:xfrm>
          <a:prstGeom prst="rect">
            <a:avLst/>
          </a:prstGeom>
          <a:noFill/>
          <a:ln/>
        </p:spPr>
        <p:txBody>
          <a:bodyPr wrap="square" lIns="0" tIns="0" rIns="0" bIns="0" rtlCol="0" anchor="ctr"/>
          <a:lstStyle/>
          <a:p>
            <a:pPr indent="0" marL="0">
              <a:buNone/>
            </a:pPr>
            <a:r>
              <a:rPr lang="en-US" sz="2200" dirty="0">
                <a:solidFill>
                  <a:srgbClr val="E9EDEA"/>
                </a:solidFill>
                <a:latin typeface="Calibri" pitchFamily="34" charset="0"/>
                <a:ea typeface="Calibri" pitchFamily="34" charset="-122"/>
                <a:cs typeface="Calibri" pitchFamily="34" charset="-120"/>
              </a:rPr>
              <a:t>Who gets on the network, and why.</a:t>
            </a:r>
            <a:endParaRPr lang="en-US" sz="2200" dirty="0"/>
          </a:p>
        </p:txBody>
      </p:sp>
      <p:sp>
        <p:nvSpPr>
          <p:cNvPr id="5" name="Text 3"/>
          <p:cNvSpPr txBox="1"/>
          <p:nvPr/>
        </p:nvSpPr>
        <p:spPr>
          <a:xfrm>
            <a:off x="777240" y="4572000"/>
            <a:ext cx="7315200" cy="320040"/>
          </a:xfrm>
          <a:prstGeom prst="rect">
            <a:avLst/>
          </a:prstGeom>
          <a:noFill/>
          <a:ln/>
        </p:spPr>
        <p:txBody>
          <a:bodyPr wrap="square" lIns="0" tIns="0" rIns="0" bIns="0" rtlCol="0" anchor="ctr"/>
          <a:lstStyle/>
          <a:p>
            <a:pPr indent="0" marL="0">
              <a:buNone/>
            </a:pPr>
            <a:r>
              <a:rPr lang="en-US" sz="1100" dirty="0">
                <a:solidFill>
                  <a:srgbClr val="9AA8A1"/>
                </a:solidFill>
                <a:latin typeface="Courier New" pitchFamily="34" charset="0"/>
                <a:ea typeface="Courier New" pitchFamily="34" charset="-122"/>
                <a:cs typeface="Courier New" pitchFamily="34" charset="-120"/>
              </a:rPr>
              <a:t>Sai Praveen Tatiparthi</a:t>
            </a:r>
            <a:endParaRPr lang="en-US" sz="1100" dirty="0"/>
          </a:p>
        </p:txBody>
      </p:sp>
      <p:sp>
        <p:nvSpPr>
          <p:cNvPr id="6" name="Shape 4"/>
          <p:cNvSpPr/>
          <p:nvPr/>
        </p:nvSpPr>
        <p:spPr>
          <a:xfrm>
            <a:off x="9692640" y="2377440"/>
            <a:ext cx="1737360" cy="658368"/>
          </a:xfrm>
          <a:prstGeom prst="roundRect">
            <a:avLst>
              <a:gd name="adj" fmla="val 13889"/>
            </a:avLst>
          </a:prstGeom>
          <a:solidFill>
            <a:srgbClr val="1B2420"/>
          </a:solidFill>
          <a:ln w="19050">
            <a:solidFill>
              <a:srgbClr val="2B45D9"/>
            </a:solidFill>
            <a:prstDash val="solid"/>
          </a:ln>
        </p:spPr>
      </p:sp>
      <p:sp>
        <p:nvSpPr>
          <p:cNvPr id="7" name="Shape 5"/>
          <p:cNvSpPr/>
          <p:nvPr/>
        </p:nvSpPr>
        <p:spPr>
          <a:xfrm>
            <a:off x="9692640" y="3246120"/>
            <a:ext cx="1737360" cy="658368"/>
          </a:xfrm>
          <a:prstGeom prst="roundRect">
            <a:avLst>
              <a:gd name="adj" fmla="val 13889"/>
            </a:avLst>
          </a:prstGeom>
          <a:solidFill>
            <a:srgbClr val="1B2420"/>
          </a:solidFill>
          <a:ln w="19050">
            <a:solidFill>
              <a:srgbClr val="2B45D9"/>
            </a:solidFill>
            <a:prstDash val="solid"/>
          </a:ln>
        </p:spPr>
      </p:sp>
      <p:sp>
        <p:nvSpPr>
          <p:cNvPr id="8" name="Shape 6"/>
          <p:cNvSpPr/>
          <p:nvPr/>
        </p:nvSpPr>
        <p:spPr>
          <a:xfrm>
            <a:off x="9692640" y="4114800"/>
            <a:ext cx="1737360" cy="658368"/>
          </a:xfrm>
          <a:prstGeom prst="roundRect">
            <a:avLst>
              <a:gd name="adj" fmla="val 13889"/>
            </a:avLst>
          </a:prstGeom>
          <a:solidFill>
            <a:srgbClr val="1B2420"/>
          </a:solidFill>
          <a:ln w="19050">
            <a:solidFill>
              <a:srgbClr val="2B45D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1069848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Up, or out</a:t>
            </a:r>
            <a:endParaRPr lang="en-US" sz="3200" dirty="0"/>
          </a:p>
        </p:txBody>
      </p:sp>
      <p:sp>
        <p:nvSpPr>
          <p:cNvPr id="3" name="Shape 1"/>
          <p:cNvSpPr/>
          <p:nvPr/>
        </p:nvSpPr>
        <p:spPr>
          <a:xfrm>
            <a:off x="731520" y="1280160"/>
            <a:ext cx="5120640" cy="3566160"/>
          </a:xfrm>
          <a:prstGeom prst="roundRect">
            <a:avLst>
              <a:gd name="adj" fmla="val 2564"/>
            </a:avLst>
          </a:prstGeom>
          <a:solidFill>
            <a:srgbClr val="E9EDEA"/>
          </a:solidFill>
          <a:ln w="12700">
            <a:solidFill>
              <a:srgbClr val="C9D2CD"/>
            </a:solidFill>
            <a:prstDash val="solid"/>
          </a:ln>
        </p:spPr>
      </p:sp>
      <p:sp>
        <p:nvSpPr>
          <p:cNvPr id="4" name="Text 2"/>
          <p:cNvSpPr txBox="1"/>
          <p:nvPr/>
        </p:nvSpPr>
        <p:spPr>
          <a:xfrm>
            <a:off x="960120" y="1481328"/>
            <a:ext cx="5486400" cy="256032"/>
          </a:xfrm>
          <a:prstGeom prst="rect">
            <a:avLst/>
          </a:prstGeom>
          <a:noFill/>
          <a:ln/>
        </p:spPr>
        <p:txBody>
          <a:bodyPr wrap="square" lIns="0" tIns="0" rIns="0" bIns="0" rtlCol="0" anchor="ctr"/>
          <a:lstStyle/>
          <a:p>
            <a:pPr indent="0" marL="0">
              <a:buNone/>
            </a:pPr>
            <a:r>
              <a:rPr lang="en-US" sz="1000" spc="100" kern="0" dirty="0">
                <a:solidFill>
                  <a:srgbClr val="111A17"/>
                </a:solidFill>
                <a:latin typeface="Courier New" pitchFamily="34" charset="0"/>
                <a:ea typeface="Courier New" pitchFamily="34" charset="-122"/>
                <a:cs typeface="Courier New" pitchFamily="34" charset="-120"/>
              </a:rPr>
              <a:t>UP · VERTICAL</a:t>
            </a:r>
            <a:endParaRPr lang="en-US" sz="1000" dirty="0"/>
          </a:p>
        </p:txBody>
      </p:sp>
      <p:sp>
        <p:nvSpPr>
          <p:cNvPr id="5" name="Text 3"/>
          <p:cNvSpPr txBox="1"/>
          <p:nvPr/>
        </p:nvSpPr>
        <p:spPr>
          <a:xfrm>
            <a:off x="960120" y="1755648"/>
            <a:ext cx="457200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one machine, more cores</a:t>
            </a:r>
            <a:endParaRPr lang="en-US" sz="1000" dirty="0"/>
          </a:p>
        </p:txBody>
      </p:sp>
      <p:sp>
        <p:nvSpPr>
          <p:cNvPr id="6" name="Shape 4"/>
          <p:cNvSpPr/>
          <p:nvPr/>
        </p:nvSpPr>
        <p:spPr>
          <a:xfrm>
            <a:off x="1051560" y="3017520"/>
            <a:ext cx="777240" cy="640080"/>
          </a:xfrm>
          <a:prstGeom prst="roundRect">
            <a:avLst>
              <a:gd name="adj" fmla="val 8571"/>
            </a:avLst>
          </a:prstGeom>
          <a:solidFill>
            <a:srgbClr val="E9EDEA"/>
          </a:solidFill>
          <a:ln w="15875">
            <a:solidFill>
              <a:srgbClr val="56625D"/>
            </a:solidFill>
            <a:prstDash val="solid"/>
          </a:ln>
        </p:spPr>
      </p:sp>
      <p:sp>
        <p:nvSpPr>
          <p:cNvPr id="7" name="Text 5"/>
          <p:cNvSpPr txBox="1"/>
          <p:nvPr/>
        </p:nvSpPr>
        <p:spPr>
          <a:xfrm>
            <a:off x="1051560" y="3191256"/>
            <a:ext cx="777240" cy="292608"/>
          </a:xfrm>
          <a:prstGeom prst="rect">
            <a:avLst/>
          </a:prstGeom>
          <a:noFill/>
          <a:ln/>
        </p:spPr>
        <p:txBody>
          <a:bodyPr wrap="square" lIns="0" tIns="0" rIns="0" bIns="0" rtlCol="0" anchor="ctr"/>
          <a:lstStyle/>
          <a:p>
            <a:pPr algn="ctr" indent="0" marL="0">
              <a:buNone/>
            </a:pPr>
            <a:r>
              <a:rPr lang="en-US" sz="1100" dirty="0">
                <a:solidFill>
                  <a:srgbClr val="111A17"/>
                </a:solidFill>
                <a:latin typeface="Courier New" pitchFamily="34" charset="0"/>
                <a:ea typeface="Courier New" pitchFamily="34" charset="-122"/>
                <a:cs typeface="Courier New" pitchFamily="34" charset="-120"/>
              </a:rPr>
              <a:t>4</a:t>
            </a:r>
            <a:endParaRPr lang="en-US" sz="1100" dirty="0"/>
          </a:p>
        </p:txBody>
      </p:sp>
      <p:sp>
        <p:nvSpPr>
          <p:cNvPr id="8" name="Shape 6"/>
          <p:cNvSpPr/>
          <p:nvPr/>
        </p:nvSpPr>
        <p:spPr>
          <a:xfrm>
            <a:off x="2057400" y="2606040"/>
            <a:ext cx="1097280" cy="1051560"/>
          </a:xfrm>
          <a:prstGeom prst="roundRect">
            <a:avLst>
              <a:gd name="adj" fmla="val 5217"/>
            </a:avLst>
          </a:prstGeom>
          <a:solidFill>
            <a:srgbClr val="E9EDEA"/>
          </a:solidFill>
          <a:ln w="15875">
            <a:solidFill>
              <a:srgbClr val="56625D"/>
            </a:solidFill>
            <a:prstDash val="solid"/>
          </a:ln>
        </p:spPr>
      </p:sp>
      <p:sp>
        <p:nvSpPr>
          <p:cNvPr id="9" name="Text 7"/>
          <p:cNvSpPr txBox="1"/>
          <p:nvPr/>
        </p:nvSpPr>
        <p:spPr>
          <a:xfrm>
            <a:off x="2057400" y="2985516"/>
            <a:ext cx="1097280" cy="292608"/>
          </a:xfrm>
          <a:prstGeom prst="rect">
            <a:avLst/>
          </a:prstGeom>
          <a:noFill/>
          <a:ln/>
        </p:spPr>
        <p:txBody>
          <a:bodyPr wrap="square" lIns="0" tIns="0" rIns="0" bIns="0" rtlCol="0" anchor="ctr"/>
          <a:lstStyle/>
          <a:p>
            <a:pPr algn="ctr" indent="0" marL="0">
              <a:buNone/>
            </a:pPr>
            <a:r>
              <a:rPr lang="en-US" sz="1100" dirty="0">
                <a:solidFill>
                  <a:srgbClr val="111A17"/>
                </a:solidFill>
                <a:latin typeface="Courier New" pitchFamily="34" charset="0"/>
                <a:ea typeface="Courier New" pitchFamily="34" charset="-122"/>
                <a:cs typeface="Courier New" pitchFamily="34" charset="-120"/>
              </a:rPr>
              <a:t>16</a:t>
            </a:r>
            <a:endParaRPr lang="en-US" sz="1100" dirty="0"/>
          </a:p>
        </p:txBody>
      </p:sp>
      <p:sp>
        <p:nvSpPr>
          <p:cNvPr id="10" name="Shape 8"/>
          <p:cNvSpPr/>
          <p:nvPr/>
        </p:nvSpPr>
        <p:spPr>
          <a:xfrm>
            <a:off x="3383280" y="2103120"/>
            <a:ext cx="1554480" cy="1554480"/>
          </a:xfrm>
          <a:prstGeom prst="roundRect">
            <a:avLst>
              <a:gd name="adj" fmla="val 3529"/>
            </a:avLst>
          </a:prstGeom>
          <a:solidFill>
            <a:srgbClr val="E9EDEA"/>
          </a:solidFill>
          <a:ln w="15875">
            <a:solidFill>
              <a:srgbClr val="56625D"/>
            </a:solidFill>
            <a:prstDash val="solid"/>
          </a:ln>
        </p:spPr>
      </p:sp>
      <p:sp>
        <p:nvSpPr>
          <p:cNvPr id="11" name="Text 9"/>
          <p:cNvSpPr txBox="1"/>
          <p:nvPr/>
        </p:nvSpPr>
        <p:spPr>
          <a:xfrm>
            <a:off x="3383280" y="2734056"/>
            <a:ext cx="1554480" cy="292608"/>
          </a:xfrm>
          <a:prstGeom prst="rect">
            <a:avLst/>
          </a:prstGeom>
          <a:noFill/>
          <a:ln/>
        </p:spPr>
        <p:txBody>
          <a:bodyPr wrap="square" lIns="0" tIns="0" rIns="0" bIns="0" rtlCol="0" anchor="ctr"/>
          <a:lstStyle/>
          <a:p>
            <a:pPr algn="ctr" indent="0" marL="0">
              <a:buNone/>
            </a:pPr>
            <a:r>
              <a:rPr lang="en-US" sz="1100" dirty="0">
                <a:solidFill>
                  <a:srgbClr val="111A17"/>
                </a:solidFill>
                <a:latin typeface="Courier New" pitchFamily="34" charset="0"/>
                <a:ea typeface="Courier New" pitchFamily="34" charset="-122"/>
                <a:cs typeface="Courier New" pitchFamily="34" charset="-120"/>
              </a:rPr>
              <a:t>64</a:t>
            </a:r>
            <a:endParaRPr lang="en-US" sz="1100" dirty="0"/>
          </a:p>
        </p:txBody>
      </p:sp>
      <p:sp>
        <p:nvSpPr>
          <p:cNvPr id="12" name="Text 10"/>
          <p:cNvSpPr txBox="1"/>
          <p:nvPr/>
        </p:nvSpPr>
        <p:spPr>
          <a:xfrm>
            <a:off x="1051560" y="3822192"/>
            <a:ext cx="466344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ceiling: the biggest box you can rent</a:t>
            </a:r>
            <a:endParaRPr lang="en-US" sz="1000" dirty="0"/>
          </a:p>
        </p:txBody>
      </p:sp>
      <p:sp>
        <p:nvSpPr>
          <p:cNvPr id="13" name="Text 11"/>
          <p:cNvSpPr txBox="1"/>
          <p:nvPr/>
        </p:nvSpPr>
        <p:spPr>
          <a:xfrm>
            <a:off x="1051560" y="4114800"/>
            <a:ext cx="466344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failure: all of it, at once</a:t>
            </a:r>
            <a:endParaRPr lang="en-US" sz="1000" dirty="0"/>
          </a:p>
        </p:txBody>
      </p:sp>
      <p:sp>
        <p:nvSpPr>
          <p:cNvPr id="14" name="Text 12"/>
          <p:cNvSpPr txBox="1"/>
          <p:nvPr/>
        </p:nvSpPr>
        <p:spPr>
          <a:xfrm>
            <a:off x="1051560" y="4407408"/>
            <a:ext cx="466344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complexity: almost none</a:t>
            </a:r>
            <a:endParaRPr lang="en-US" sz="1000" dirty="0"/>
          </a:p>
        </p:txBody>
      </p:sp>
      <p:sp>
        <p:nvSpPr>
          <p:cNvPr id="15" name="Shape 13"/>
          <p:cNvSpPr/>
          <p:nvPr/>
        </p:nvSpPr>
        <p:spPr>
          <a:xfrm>
            <a:off x="6309360" y="1280160"/>
            <a:ext cx="5120640" cy="3566160"/>
          </a:xfrm>
          <a:prstGeom prst="roundRect">
            <a:avLst>
              <a:gd name="adj" fmla="val 2564"/>
            </a:avLst>
          </a:prstGeom>
          <a:solidFill>
            <a:srgbClr val="E9EDEA"/>
          </a:solidFill>
          <a:ln w="12700">
            <a:solidFill>
              <a:srgbClr val="C9D2CD"/>
            </a:solidFill>
            <a:prstDash val="solid"/>
          </a:ln>
        </p:spPr>
      </p:sp>
      <p:sp>
        <p:nvSpPr>
          <p:cNvPr id="16" name="Text 14"/>
          <p:cNvSpPr txBox="1"/>
          <p:nvPr/>
        </p:nvSpPr>
        <p:spPr>
          <a:xfrm>
            <a:off x="6537960" y="1481328"/>
            <a:ext cx="5196535" cy="256032"/>
          </a:xfrm>
          <a:prstGeom prst="rect">
            <a:avLst/>
          </a:prstGeom>
          <a:noFill/>
          <a:ln/>
        </p:spPr>
        <p:txBody>
          <a:bodyPr wrap="square" lIns="0" tIns="0" rIns="0" bIns="0" rtlCol="0" anchor="ctr"/>
          <a:lstStyle/>
          <a:p>
            <a:pPr indent="0" marL="0">
              <a:buNone/>
            </a:pPr>
            <a:r>
              <a:rPr lang="en-US" sz="1000" spc="100" kern="0" dirty="0">
                <a:solidFill>
                  <a:srgbClr val="2B45D9"/>
                </a:solidFill>
                <a:latin typeface="Courier New" pitchFamily="34" charset="0"/>
                <a:ea typeface="Courier New" pitchFamily="34" charset="-122"/>
                <a:cs typeface="Courier New" pitchFamily="34" charset="-120"/>
              </a:rPr>
              <a:t>OUT · HORIZONTAL</a:t>
            </a:r>
            <a:endParaRPr lang="en-US" sz="1000" dirty="0"/>
          </a:p>
        </p:txBody>
      </p:sp>
      <p:sp>
        <p:nvSpPr>
          <p:cNvPr id="17" name="Text 15"/>
          <p:cNvSpPr txBox="1"/>
          <p:nvPr/>
        </p:nvSpPr>
        <p:spPr>
          <a:xfrm>
            <a:off x="6537960" y="1755648"/>
            <a:ext cx="457200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many machines, identical</a:t>
            </a:r>
            <a:endParaRPr lang="en-US" sz="1000" dirty="0"/>
          </a:p>
        </p:txBody>
      </p:sp>
      <p:sp>
        <p:nvSpPr>
          <p:cNvPr id="18" name="Shape 16"/>
          <p:cNvSpPr/>
          <p:nvPr/>
        </p:nvSpPr>
        <p:spPr>
          <a:xfrm>
            <a:off x="6583680" y="2377440"/>
            <a:ext cx="1371600" cy="566928"/>
          </a:xfrm>
          <a:prstGeom prst="roundRect">
            <a:avLst>
              <a:gd name="adj" fmla="val 9677"/>
            </a:avLst>
          </a:prstGeom>
          <a:solidFill>
            <a:srgbClr val="DDE3FB"/>
          </a:solidFill>
          <a:ln w="15875">
            <a:solidFill>
              <a:srgbClr val="2B45D9"/>
            </a:solidFill>
            <a:prstDash val="solid"/>
          </a:ln>
        </p:spPr>
      </p:sp>
      <p:sp>
        <p:nvSpPr>
          <p:cNvPr id="19" name="Shape 17"/>
          <p:cNvSpPr/>
          <p:nvPr/>
        </p:nvSpPr>
        <p:spPr>
          <a:xfrm>
            <a:off x="6583680" y="3108960"/>
            <a:ext cx="1371600" cy="566928"/>
          </a:xfrm>
          <a:prstGeom prst="roundRect">
            <a:avLst>
              <a:gd name="adj" fmla="val 9677"/>
            </a:avLst>
          </a:prstGeom>
          <a:solidFill>
            <a:srgbClr val="DDE3FB"/>
          </a:solidFill>
          <a:ln w="15875">
            <a:solidFill>
              <a:srgbClr val="2B45D9"/>
            </a:solidFill>
            <a:prstDash val="solid"/>
          </a:ln>
        </p:spPr>
      </p:sp>
      <p:sp>
        <p:nvSpPr>
          <p:cNvPr id="20" name="Shape 18"/>
          <p:cNvSpPr/>
          <p:nvPr/>
        </p:nvSpPr>
        <p:spPr>
          <a:xfrm>
            <a:off x="8092440" y="2377440"/>
            <a:ext cx="1371600" cy="566928"/>
          </a:xfrm>
          <a:prstGeom prst="roundRect">
            <a:avLst>
              <a:gd name="adj" fmla="val 9677"/>
            </a:avLst>
          </a:prstGeom>
          <a:solidFill>
            <a:srgbClr val="DDE3FB"/>
          </a:solidFill>
          <a:ln w="15875">
            <a:solidFill>
              <a:srgbClr val="2B45D9"/>
            </a:solidFill>
            <a:prstDash val="solid"/>
          </a:ln>
        </p:spPr>
      </p:sp>
      <p:sp>
        <p:nvSpPr>
          <p:cNvPr id="21" name="Shape 19"/>
          <p:cNvSpPr/>
          <p:nvPr/>
        </p:nvSpPr>
        <p:spPr>
          <a:xfrm>
            <a:off x="8092440" y="3108960"/>
            <a:ext cx="1371600" cy="566928"/>
          </a:xfrm>
          <a:prstGeom prst="roundRect">
            <a:avLst>
              <a:gd name="adj" fmla="val 9677"/>
            </a:avLst>
          </a:prstGeom>
          <a:solidFill>
            <a:srgbClr val="DDE3FB"/>
          </a:solidFill>
          <a:ln w="15875">
            <a:solidFill>
              <a:srgbClr val="2B45D9"/>
            </a:solidFill>
            <a:prstDash val="solid"/>
          </a:ln>
        </p:spPr>
      </p:sp>
      <p:sp>
        <p:nvSpPr>
          <p:cNvPr id="22" name="Shape 20"/>
          <p:cNvSpPr/>
          <p:nvPr/>
        </p:nvSpPr>
        <p:spPr>
          <a:xfrm>
            <a:off x="9601200" y="2377440"/>
            <a:ext cx="1371600" cy="566928"/>
          </a:xfrm>
          <a:prstGeom prst="roundRect">
            <a:avLst>
              <a:gd name="adj" fmla="val 9677"/>
            </a:avLst>
          </a:prstGeom>
          <a:solidFill>
            <a:srgbClr val="DDE3FB"/>
          </a:solidFill>
          <a:ln w="15875">
            <a:solidFill>
              <a:srgbClr val="2B45D9"/>
            </a:solidFill>
            <a:prstDash val="solid"/>
          </a:ln>
        </p:spPr>
      </p:sp>
      <p:sp>
        <p:nvSpPr>
          <p:cNvPr id="23" name="Shape 21"/>
          <p:cNvSpPr/>
          <p:nvPr/>
        </p:nvSpPr>
        <p:spPr>
          <a:xfrm>
            <a:off x="9601200" y="3108960"/>
            <a:ext cx="1371600" cy="566928"/>
          </a:xfrm>
          <a:prstGeom prst="roundRect">
            <a:avLst>
              <a:gd name="adj" fmla="val 9677"/>
            </a:avLst>
          </a:prstGeom>
          <a:solidFill>
            <a:srgbClr val="DDE3FB"/>
          </a:solidFill>
          <a:ln w="15875">
            <a:solidFill>
              <a:srgbClr val="2B45D9"/>
            </a:solidFill>
            <a:prstDash val="solid"/>
          </a:ln>
        </p:spPr>
      </p:sp>
      <p:sp>
        <p:nvSpPr>
          <p:cNvPr id="24" name="Text 22"/>
          <p:cNvSpPr txBox="1"/>
          <p:nvPr/>
        </p:nvSpPr>
        <p:spPr>
          <a:xfrm>
            <a:off x="6583680" y="3822192"/>
            <a:ext cx="466344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ceiling: your own design</a:t>
            </a:r>
            <a:endParaRPr lang="en-US" sz="1000" dirty="0"/>
          </a:p>
        </p:txBody>
      </p:sp>
      <p:sp>
        <p:nvSpPr>
          <p:cNvPr id="25" name="Text 23"/>
          <p:cNvSpPr txBox="1"/>
          <p:nvPr/>
        </p:nvSpPr>
        <p:spPr>
          <a:xfrm>
            <a:off x="6583680" y="4114800"/>
            <a:ext cx="466344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failure: one slice of it</a:t>
            </a:r>
            <a:endParaRPr lang="en-US" sz="1000" dirty="0"/>
          </a:p>
        </p:txBody>
      </p:sp>
      <p:sp>
        <p:nvSpPr>
          <p:cNvPr id="26" name="Text 24"/>
          <p:cNvSpPr txBox="1"/>
          <p:nvPr/>
        </p:nvSpPr>
        <p:spPr>
          <a:xfrm>
            <a:off x="6583680" y="4407408"/>
            <a:ext cx="466344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complexity: real, and permanent</a:t>
            </a:r>
            <a:endParaRPr lang="en-US" sz="1000" dirty="0"/>
          </a:p>
        </p:txBody>
      </p:sp>
      <p:sp>
        <p:nvSpPr>
          <p:cNvPr id="27" name="Shape 25"/>
          <p:cNvSpPr/>
          <p:nvPr/>
        </p:nvSpPr>
        <p:spPr>
          <a:xfrm>
            <a:off x="731520" y="5870448"/>
            <a:ext cx="3383280" cy="0"/>
          </a:xfrm>
          <a:prstGeom prst="line">
            <a:avLst/>
          </a:prstGeom>
          <a:noFill/>
          <a:ln w="12700">
            <a:solidFill>
              <a:srgbClr val="C9D2CD"/>
            </a:solidFill>
            <a:prstDash val="solid"/>
          </a:ln>
        </p:spPr>
      </p:sp>
      <p:sp>
        <p:nvSpPr>
          <p:cNvPr id="28" name="Text 26"/>
          <p:cNvSpPr txBox="1"/>
          <p:nvPr/>
        </p:nvSpPr>
        <p:spPr>
          <a:xfrm>
            <a:off x="7315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Up: no code changes, hard ceiling</a:t>
            </a:r>
            <a:endParaRPr lang="en-US" sz="1300" dirty="0"/>
          </a:p>
        </p:txBody>
      </p:sp>
      <p:sp>
        <p:nvSpPr>
          <p:cNvPr id="29" name="Shape 27"/>
          <p:cNvSpPr/>
          <p:nvPr/>
        </p:nvSpPr>
        <p:spPr>
          <a:xfrm>
            <a:off x="4389120" y="5870448"/>
            <a:ext cx="3383280" cy="0"/>
          </a:xfrm>
          <a:prstGeom prst="line">
            <a:avLst/>
          </a:prstGeom>
          <a:noFill/>
          <a:ln w="12700">
            <a:solidFill>
              <a:srgbClr val="C9D2CD"/>
            </a:solidFill>
            <a:prstDash val="solid"/>
          </a:ln>
        </p:spPr>
      </p:sp>
      <p:sp>
        <p:nvSpPr>
          <p:cNvPr id="30" name="Text 28"/>
          <p:cNvSpPr txBox="1"/>
          <p:nvPr/>
        </p:nvSpPr>
        <p:spPr>
          <a:xfrm>
            <a:off x="43891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Out: no ceiling, real complexity</a:t>
            </a:r>
            <a:endParaRPr lang="en-US" sz="1300" dirty="0"/>
          </a:p>
        </p:txBody>
      </p:sp>
      <p:sp>
        <p:nvSpPr>
          <p:cNvPr id="31" name="Shape 29"/>
          <p:cNvSpPr/>
          <p:nvPr/>
        </p:nvSpPr>
        <p:spPr>
          <a:xfrm>
            <a:off x="8046720" y="5870448"/>
            <a:ext cx="3383280" cy="0"/>
          </a:xfrm>
          <a:prstGeom prst="line">
            <a:avLst/>
          </a:prstGeom>
          <a:noFill/>
          <a:ln w="12700">
            <a:solidFill>
              <a:srgbClr val="C9D2CD"/>
            </a:solidFill>
            <a:prstDash val="solid"/>
          </a:ln>
        </p:spPr>
      </p:sp>
      <p:sp>
        <p:nvSpPr>
          <p:cNvPr id="32" name="Text 30"/>
          <p:cNvSpPr txBox="1"/>
          <p:nvPr/>
        </p:nvSpPr>
        <p:spPr>
          <a:xfrm>
            <a:off x="80467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Go up first. It is usually enough.</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1069848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State decides which one you can do</a:t>
            </a:r>
            <a:endParaRPr lang="en-US" sz="3200" dirty="0"/>
          </a:p>
        </p:txBody>
      </p:sp>
      <p:sp>
        <p:nvSpPr>
          <p:cNvPr id="3" name="Shape 1"/>
          <p:cNvSpPr/>
          <p:nvPr/>
        </p:nvSpPr>
        <p:spPr>
          <a:xfrm>
            <a:off x="731520" y="1280160"/>
            <a:ext cx="5120640" cy="3566160"/>
          </a:xfrm>
          <a:prstGeom prst="roundRect">
            <a:avLst>
              <a:gd name="adj" fmla="val 2564"/>
            </a:avLst>
          </a:prstGeom>
          <a:solidFill>
            <a:srgbClr val="E9EDEA"/>
          </a:solidFill>
          <a:ln w="12700">
            <a:solidFill>
              <a:srgbClr val="C9D2CD"/>
            </a:solidFill>
            <a:prstDash val="solid"/>
          </a:ln>
        </p:spPr>
      </p:sp>
      <p:sp>
        <p:nvSpPr>
          <p:cNvPr id="4" name="Text 2"/>
          <p:cNvSpPr txBox="1"/>
          <p:nvPr/>
        </p:nvSpPr>
        <p:spPr>
          <a:xfrm>
            <a:off x="960120" y="1481328"/>
            <a:ext cx="5486400" cy="256032"/>
          </a:xfrm>
          <a:prstGeom prst="rect">
            <a:avLst/>
          </a:prstGeom>
          <a:noFill/>
          <a:ln/>
        </p:spPr>
        <p:txBody>
          <a:bodyPr wrap="square" lIns="0" tIns="0" rIns="0" bIns="0" rtlCol="0" anchor="ctr"/>
          <a:lstStyle/>
          <a:p>
            <a:pPr indent="0" marL="0">
              <a:buNone/>
            </a:pPr>
            <a:r>
              <a:rPr lang="en-US" sz="1000" spc="100" kern="0" dirty="0">
                <a:solidFill>
                  <a:srgbClr val="2B45D9"/>
                </a:solidFill>
                <a:latin typeface="Courier New" pitchFamily="34" charset="0"/>
                <a:ea typeface="Courier New" pitchFamily="34" charset="-122"/>
                <a:cs typeface="Courier New" pitchFamily="34" charset="-120"/>
              </a:rPr>
              <a:t>STATELESS</a:t>
            </a:r>
            <a:endParaRPr lang="en-US" sz="1000" dirty="0"/>
          </a:p>
        </p:txBody>
      </p:sp>
      <p:sp>
        <p:nvSpPr>
          <p:cNvPr id="5" name="Shape 3"/>
          <p:cNvSpPr/>
          <p:nvPr/>
        </p:nvSpPr>
        <p:spPr>
          <a:xfrm>
            <a:off x="2286000" y="1874520"/>
            <a:ext cx="1920240" cy="457200"/>
          </a:xfrm>
          <a:prstGeom prst="roundRect">
            <a:avLst>
              <a:gd name="adj" fmla="val 12000"/>
            </a:avLst>
          </a:prstGeom>
          <a:solidFill>
            <a:srgbClr val="E9EDEA"/>
          </a:solidFill>
          <a:ln w="15875">
            <a:solidFill>
              <a:srgbClr val="56625D"/>
            </a:solidFill>
            <a:prstDash val="solid"/>
          </a:ln>
        </p:spPr>
      </p:sp>
      <p:sp>
        <p:nvSpPr>
          <p:cNvPr id="6" name="Text 4"/>
          <p:cNvSpPr txBox="1"/>
          <p:nvPr/>
        </p:nvSpPr>
        <p:spPr>
          <a:xfrm>
            <a:off x="2286000" y="1993392"/>
            <a:ext cx="1920240" cy="256032"/>
          </a:xfrm>
          <a:prstGeom prst="rect">
            <a:avLst/>
          </a:prstGeom>
          <a:noFill/>
          <a:ln/>
        </p:spPr>
        <p:txBody>
          <a:bodyPr wrap="square" lIns="0" tIns="0" rIns="0" bIns="0" rtlCol="0" anchor="ctr"/>
          <a:lstStyle/>
          <a:p>
            <a:pPr algn="ctr" indent="0" marL="0">
              <a:buNone/>
            </a:pPr>
            <a:r>
              <a:rPr lang="en-US" sz="1100" dirty="0">
                <a:solidFill>
                  <a:srgbClr val="111A17"/>
                </a:solidFill>
                <a:latin typeface="Courier New" pitchFamily="34" charset="0"/>
                <a:ea typeface="Courier New" pitchFamily="34" charset="-122"/>
                <a:cs typeface="Courier New" pitchFamily="34" charset="-120"/>
              </a:rPr>
              <a:t>balancer</a:t>
            </a:r>
            <a:endParaRPr lang="en-US" sz="1100" dirty="0"/>
          </a:p>
        </p:txBody>
      </p:sp>
      <p:sp>
        <p:nvSpPr>
          <p:cNvPr id="7" name="Shape 5"/>
          <p:cNvSpPr/>
          <p:nvPr/>
        </p:nvSpPr>
        <p:spPr>
          <a:xfrm>
            <a:off x="1645920" y="2359152"/>
            <a:ext cx="1600200" cy="347472"/>
          </a:xfrm>
          <a:prstGeom prst="line">
            <a:avLst/>
          </a:prstGeom>
          <a:noFill/>
          <a:ln w="19050">
            <a:solidFill>
              <a:srgbClr val="56625D"/>
            </a:solidFill>
            <a:prstDash val="solid"/>
            <a:tailEnd type="triangle"/>
          </a:ln>
        </p:spPr>
      </p:sp>
      <p:sp>
        <p:nvSpPr>
          <p:cNvPr id="8" name="Shape 6"/>
          <p:cNvSpPr/>
          <p:nvPr/>
        </p:nvSpPr>
        <p:spPr>
          <a:xfrm>
            <a:off x="960120" y="2743200"/>
            <a:ext cx="1371600" cy="640080"/>
          </a:xfrm>
          <a:prstGeom prst="roundRect">
            <a:avLst>
              <a:gd name="adj" fmla="val 8571"/>
            </a:avLst>
          </a:prstGeom>
          <a:solidFill>
            <a:srgbClr val="DDE3FB"/>
          </a:solidFill>
          <a:ln w="15875">
            <a:solidFill>
              <a:srgbClr val="2B45D9"/>
            </a:solidFill>
            <a:prstDash val="solid"/>
          </a:ln>
        </p:spPr>
      </p:sp>
      <p:sp>
        <p:nvSpPr>
          <p:cNvPr id="9" name="Shape 7"/>
          <p:cNvSpPr/>
          <p:nvPr/>
        </p:nvSpPr>
        <p:spPr>
          <a:xfrm>
            <a:off x="3200400" y="2359152"/>
            <a:ext cx="45720" cy="347472"/>
          </a:xfrm>
          <a:prstGeom prst="line">
            <a:avLst/>
          </a:prstGeom>
          <a:noFill/>
          <a:ln w="19050">
            <a:solidFill>
              <a:srgbClr val="56625D"/>
            </a:solidFill>
            <a:prstDash val="solid"/>
            <a:tailEnd type="triangle"/>
          </a:ln>
        </p:spPr>
      </p:sp>
      <p:sp>
        <p:nvSpPr>
          <p:cNvPr id="10" name="Shape 8"/>
          <p:cNvSpPr/>
          <p:nvPr/>
        </p:nvSpPr>
        <p:spPr>
          <a:xfrm>
            <a:off x="2514600" y="2743200"/>
            <a:ext cx="1371600" cy="640080"/>
          </a:xfrm>
          <a:prstGeom prst="roundRect">
            <a:avLst>
              <a:gd name="adj" fmla="val 8571"/>
            </a:avLst>
          </a:prstGeom>
          <a:solidFill>
            <a:srgbClr val="DDE3FB"/>
          </a:solidFill>
          <a:ln w="15875">
            <a:solidFill>
              <a:srgbClr val="2B45D9"/>
            </a:solidFill>
            <a:prstDash val="solid"/>
          </a:ln>
        </p:spPr>
      </p:sp>
      <p:sp>
        <p:nvSpPr>
          <p:cNvPr id="11" name="Shape 9"/>
          <p:cNvSpPr/>
          <p:nvPr/>
        </p:nvSpPr>
        <p:spPr>
          <a:xfrm>
            <a:off x="3246120" y="2359152"/>
            <a:ext cx="1508760" cy="347472"/>
          </a:xfrm>
          <a:prstGeom prst="line">
            <a:avLst/>
          </a:prstGeom>
          <a:noFill/>
          <a:ln w="19050">
            <a:solidFill>
              <a:srgbClr val="56625D"/>
            </a:solidFill>
            <a:prstDash val="solid"/>
            <a:tailEnd type="triangle"/>
          </a:ln>
        </p:spPr>
      </p:sp>
      <p:sp>
        <p:nvSpPr>
          <p:cNvPr id="12" name="Shape 10"/>
          <p:cNvSpPr/>
          <p:nvPr/>
        </p:nvSpPr>
        <p:spPr>
          <a:xfrm>
            <a:off x="4069080" y="2743200"/>
            <a:ext cx="1371600" cy="640080"/>
          </a:xfrm>
          <a:prstGeom prst="roundRect">
            <a:avLst>
              <a:gd name="adj" fmla="val 8571"/>
            </a:avLst>
          </a:prstGeom>
          <a:solidFill>
            <a:srgbClr val="DDE3FB"/>
          </a:solidFill>
          <a:ln w="15875">
            <a:solidFill>
              <a:srgbClr val="2B45D9"/>
            </a:solidFill>
            <a:prstDash val="solid"/>
          </a:ln>
        </p:spPr>
      </p:sp>
      <p:sp>
        <p:nvSpPr>
          <p:cNvPr id="13" name="Text 11"/>
          <p:cNvSpPr txBox="1"/>
          <p:nvPr/>
        </p:nvSpPr>
        <p:spPr>
          <a:xfrm>
            <a:off x="960120" y="3611880"/>
            <a:ext cx="4572000" cy="365760"/>
          </a:xfrm>
          <a:prstGeom prst="rect">
            <a:avLst/>
          </a:prstGeom>
          <a:noFill/>
          <a:ln/>
        </p:spPr>
        <p:txBody>
          <a:bodyPr wrap="square" lIns="0" tIns="0" rIns="0" bIns="0" rtlCol="0" anchor="ctr"/>
          <a:lstStyle/>
          <a:p>
            <a:pPr indent="0" marL="0">
              <a:buNone/>
            </a:pPr>
            <a:r>
              <a:rPr lang="en-US" sz="1500" dirty="0">
                <a:solidFill>
                  <a:srgbClr val="111A17"/>
                </a:solidFill>
                <a:latin typeface="Calibri" pitchFamily="34" charset="0"/>
                <a:ea typeface="Calibri" pitchFamily="34" charset="-122"/>
                <a:cs typeface="Calibri" pitchFamily="34" charset="-120"/>
              </a:rPr>
              <a:t>Any box can answer.</a:t>
            </a:r>
            <a:endParaRPr lang="en-US" sz="1500" dirty="0"/>
          </a:p>
        </p:txBody>
      </p:sp>
      <p:sp>
        <p:nvSpPr>
          <p:cNvPr id="14" name="Text 12"/>
          <p:cNvSpPr txBox="1"/>
          <p:nvPr/>
        </p:nvSpPr>
        <p:spPr>
          <a:xfrm>
            <a:off x="960120" y="3977640"/>
            <a:ext cx="4572000" cy="32004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start another, point traffic at it</a:t>
            </a:r>
            <a:endParaRPr lang="en-US" sz="1000" dirty="0"/>
          </a:p>
        </p:txBody>
      </p:sp>
      <p:sp>
        <p:nvSpPr>
          <p:cNvPr id="15" name="Shape 13"/>
          <p:cNvSpPr/>
          <p:nvPr/>
        </p:nvSpPr>
        <p:spPr>
          <a:xfrm>
            <a:off x="6309360" y="1280160"/>
            <a:ext cx="5120640" cy="3566160"/>
          </a:xfrm>
          <a:prstGeom prst="roundRect">
            <a:avLst>
              <a:gd name="adj" fmla="val 2564"/>
            </a:avLst>
          </a:prstGeom>
          <a:solidFill>
            <a:srgbClr val="E9EDEA"/>
          </a:solidFill>
          <a:ln w="12700">
            <a:solidFill>
              <a:srgbClr val="C9D2CD"/>
            </a:solidFill>
            <a:prstDash val="solid"/>
          </a:ln>
        </p:spPr>
      </p:sp>
      <p:sp>
        <p:nvSpPr>
          <p:cNvPr id="16" name="Text 14"/>
          <p:cNvSpPr txBox="1"/>
          <p:nvPr/>
        </p:nvSpPr>
        <p:spPr>
          <a:xfrm>
            <a:off x="6537960" y="1481328"/>
            <a:ext cx="5196535" cy="256032"/>
          </a:xfrm>
          <a:prstGeom prst="rect">
            <a:avLst/>
          </a:prstGeom>
          <a:noFill/>
          <a:ln/>
        </p:spPr>
        <p:txBody>
          <a:bodyPr wrap="square" lIns="0" tIns="0" rIns="0" bIns="0" rtlCol="0" anchor="ctr"/>
          <a:lstStyle/>
          <a:p>
            <a:pPr indent="0" marL="0">
              <a:buNone/>
            </a:pPr>
            <a:r>
              <a:rPr lang="en-US" sz="1000" spc="100" kern="0" dirty="0">
                <a:solidFill>
                  <a:srgbClr val="111A17"/>
                </a:solidFill>
                <a:latin typeface="Courier New" pitchFamily="34" charset="0"/>
                <a:ea typeface="Courier New" pitchFamily="34" charset="-122"/>
                <a:cs typeface="Courier New" pitchFamily="34" charset="-120"/>
              </a:rPr>
              <a:t>STATEFUL</a:t>
            </a:r>
            <a:endParaRPr lang="en-US" sz="1000" dirty="0"/>
          </a:p>
        </p:txBody>
      </p:sp>
      <p:sp>
        <p:nvSpPr>
          <p:cNvPr id="17" name="Text 15"/>
          <p:cNvSpPr txBox="1"/>
          <p:nvPr/>
        </p:nvSpPr>
        <p:spPr>
          <a:xfrm>
            <a:off x="7909560" y="1938528"/>
            <a:ext cx="1828800" cy="292608"/>
          </a:xfrm>
          <a:prstGeom prst="rect">
            <a:avLst/>
          </a:prstGeom>
          <a:noFill/>
          <a:ln/>
        </p:spPr>
        <p:txBody>
          <a:bodyPr wrap="square" lIns="0" tIns="0" rIns="0" bIns="0" rtlCol="0" anchor="ctr"/>
          <a:lstStyle/>
          <a:p>
            <a:pPr algn="ctr" indent="0" marL="0">
              <a:buNone/>
            </a:pPr>
            <a:r>
              <a:rPr lang="en-US" sz="1100" dirty="0">
                <a:solidFill>
                  <a:srgbClr val="2B45D9"/>
                </a:solidFill>
                <a:latin typeface="Courier New" pitchFamily="34" charset="0"/>
                <a:ea typeface="Courier New" pitchFamily="34" charset="-122"/>
                <a:cs typeface="Courier New" pitchFamily="34" charset="-120"/>
              </a:rPr>
              <a:t>needs row B</a:t>
            </a:r>
            <a:endParaRPr lang="en-US" sz="1100" dirty="0"/>
          </a:p>
        </p:txBody>
      </p:sp>
      <p:sp>
        <p:nvSpPr>
          <p:cNvPr id="18" name="Shape 16"/>
          <p:cNvSpPr/>
          <p:nvPr/>
        </p:nvSpPr>
        <p:spPr>
          <a:xfrm>
            <a:off x="8823960" y="2286000"/>
            <a:ext cx="0" cy="384048"/>
          </a:xfrm>
          <a:prstGeom prst="line">
            <a:avLst/>
          </a:prstGeom>
          <a:noFill/>
          <a:ln w="31750">
            <a:solidFill>
              <a:srgbClr val="2B45D9"/>
            </a:solidFill>
            <a:prstDash val="solid"/>
            <a:tailEnd type="triangle"/>
          </a:ln>
        </p:spPr>
      </p:sp>
      <p:sp>
        <p:nvSpPr>
          <p:cNvPr id="19" name="Shape 17"/>
          <p:cNvSpPr/>
          <p:nvPr/>
        </p:nvSpPr>
        <p:spPr>
          <a:xfrm>
            <a:off x="6537960" y="2743200"/>
            <a:ext cx="1371600" cy="640080"/>
          </a:xfrm>
          <a:prstGeom prst="roundRect">
            <a:avLst>
              <a:gd name="adj" fmla="val 8571"/>
            </a:avLst>
          </a:prstGeom>
          <a:solidFill>
            <a:srgbClr val="E9EDEA"/>
          </a:solidFill>
          <a:ln w="12700">
            <a:solidFill>
              <a:srgbClr val="C9D2CD"/>
            </a:solidFill>
            <a:prstDash val="solid"/>
          </a:ln>
        </p:spPr>
      </p:sp>
      <p:sp>
        <p:nvSpPr>
          <p:cNvPr id="20" name="Text 18"/>
          <p:cNvSpPr txBox="1"/>
          <p:nvPr/>
        </p:nvSpPr>
        <p:spPr>
          <a:xfrm>
            <a:off x="6537960" y="2907792"/>
            <a:ext cx="1371600" cy="320040"/>
          </a:xfrm>
          <a:prstGeom prst="rect">
            <a:avLst/>
          </a:prstGeom>
          <a:noFill/>
          <a:ln/>
        </p:spPr>
        <p:txBody>
          <a:bodyPr wrap="square" lIns="0" tIns="0" rIns="0" bIns="0" rtlCol="0" anchor="ctr"/>
          <a:lstStyle/>
          <a:p>
            <a:pPr algn="ctr" indent="0" marL="0">
              <a:buNone/>
            </a:pPr>
            <a:r>
              <a:rPr lang="en-US" sz="1300" dirty="0">
                <a:solidFill>
                  <a:srgbClr val="56625D"/>
                </a:solidFill>
                <a:latin typeface="Courier New" pitchFamily="34" charset="0"/>
                <a:ea typeface="Courier New" pitchFamily="34" charset="-122"/>
                <a:cs typeface="Courier New" pitchFamily="34" charset="-120"/>
              </a:rPr>
              <a:t>A</a:t>
            </a:r>
            <a:endParaRPr lang="en-US" sz="1300" dirty="0"/>
          </a:p>
        </p:txBody>
      </p:sp>
      <p:sp>
        <p:nvSpPr>
          <p:cNvPr id="21" name="Shape 19"/>
          <p:cNvSpPr/>
          <p:nvPr/>
        </p:nvSpPr>
        <p:spPr>
          <a:xfrm>
            <a:off x="8138160" y="2743200"/>
            <a:ext cx="1371600" cy="640080"/>
          </a:xfrm>
          <a:prstGeom prst="roundRect">
            <a:avLst>
              <a:gd name="adj" fmla="val 8571"/>
            </a:avLst>
          </a:prstGeom>
          <a:solidFill>
            <a:srgbClr val="DDE3FB"/>
          </a:solidFill>
          <a:ln w="19050">
            <a:solidFill>
              <a:srgbClr val="2B45D9"/>
            </a:solidFill>
            <a:prstDash val="solid"/>
          </a:ln>
        </p:spPr>
      </p:sp>
      <p:sp>
        <p:nvSpPr>
          <p:cNvPr id="22" name="Text 20"/>
          <p:cNvSpPr txBox="1"/>
          <p:nvPr/>
        </p:nvSpPr>
        <p:spPr>
          <a:xfrm>
            <a:off x="8138160" y="2907792"/>
            <a:ext cx="1371600" cy="320040"/>
          </a:xfrm>
          <a:prstGeom prst="rect">
            <a:avLst/>
          </a:prstGeom>
          <a:noFill/>
          <a:ln/>
        </p:spPr>
        <p:txBody>
          <a:bodyPr wrap="square" lIns="0" tIns="0" rIns="0" bIns="0" rtlCol="0" anchor="ctr"/>
          <a:lstStyle/>
          <a:p>
            <a:pPr algn="ctr" indent="0" marL="0">
              <a:buNone/>
            </a:pPr>
            <a:r>
              <a:rPr lang="en-US" sz="1300" dirty="0">
                <a:solidFill>
                  <a:srgbClr val="111A17"/>
                </a:solidFill>
                <a:latin typeface="Courier New" pitchFamily="34" charset="0"/>
                <a:ea typeface="Courier New" pitchFamily="34" charset="-122"/>
                <a:cs typeface="Courier New" pitchFamily="34" charset="-120"/>
              </a:rPr>
              <a:t>B</a:t>
            </a:r>
            <a:endParaRPr lang="en-US" sz="1300" dirty="0"/>
          </a:p>
        </p:txBody>
      </p:sp>
      <p:sp>
        <p:nvSpPr>
          <p:cNvPr id="23" name="Shape 21"/>
          <p:cNvSpPr/>
          <p:nvPr/>
        </p:nvSpPr>
        <p:spPr>
          <a:xfrm>
            <a:off x="9738360" y="2743200"/>
            <a:ext cx="1371600" cy="640080"/>
          </a:xfrm>
          <a:prstGeom prst="roundRect">
            <a:avLst>
              <a:gd name="adj" fmla="val 8571"/>
            </a:avLst>
          </a:prstGeom>
          <a:solidFill>
            <a:srgbClr val="E9EDEA"/>
          </a:solidFill>
          <a:ln w="12700">
            <a:solidFill>
              <a:srgbClr val="C9D2CD"/>
            </a:solidFill>
            <a:prstDash val="solid"/>
          </a:ln>
        </p:spPr>
      </p:sp>
      <p:sp>
        <p:nvSpPr>
          <p:cNvPr id="24" name="Text 22"/>
          <p:cNvSpPr txBox="1"/>
          <p:nvPr/>
        </p:nvSpPr>
        <p:spPr>
          <a:xfrm>
            <a:off x="9738360" y="2907792"/>
            <a:ext cx="1371600" cy="320040"/>
          </a:xfrm>
          <a:prstGeom prst="rect">
            <a:avLst/>
          </a:prstGeom>
          <a:noFill/>
          <a:ln/>
        </p:spPr>
        <p:txBody>
          <a:bodyPr wrap="square" lIns="0" tIns="0" rIns="0" bIns="0" rtlCol="0" anchor="ctr"/>
          <a:lstStyle/>
          <a:p>
            <a:pPr algn="ctr" indent="0" marL="0">
              <a:buNone/>
            </a:pPr>
            <a:r>
              <a:rPr lang="en-US" sz="1300" dirty="0">
                <a:solidFill>
                  <a:srgbClr val="56625D"/>
                </a:solidFill>
                <a:latin typeface="Courier New" pitchFamily="34" charset="0"/>
                <a:ea typeface="Courier New" pitchFamily="34" charset="-122"/>
                <a:cs typeface="Courier New" pitchFamily="34" charset="-120"/>
              </a:rPr>
              <a:t>C</a:t>
            </a:r>
            <a:endParaRPr lang="en-US" sz="1300" dirty="0"/>
          </a:p>
        </p:txBody>
      </p:sp>
      <p:sp>
        <p:nvSpPr>
          <p:cNvPr id="25" name="Text 23"/>
          <p:cNvSpPr txBox="1"/>
          <p:nvPr/>
        </p:nvSpPr>
        <p:spPr>
          <a:xfrm>
            <a:off x="6537960" y="3611880"/>
            <a:ext cx="4572000" cy="365760"/>
          </a:xfrm>
          <a:prstGeom prst="rect">
            <a:avLst/>
          </a:prstGeom>
          <a:noFill/>
          <a:ln/>
        </p:spPr>
        <p:txBody>
          <a:bodyPr wrap="square" lIns="0" tIns="0" rIns="0" bIns="0" rtlCol="0" anchor="ctr"/>
          <a:lstStyle/>
          <a:p>
            <a:pPr indent="0" marL="0">
              <a:buNone/>
            </a:pPr>
            <a:r>
              <a:rPr lang="en-US" sz="1500" dirty="0">
                <a:solidFill>
                  <a:srgbClr val="111A17"/>
                </a:solidFill>
                <a:latin typeface="Calibri" pitchFamily="34" charset="0"/>
                <a:ea typeface="Calibri" pitchFamily="34" charset="-122"/>
                <a:cs typeface="Calibri" pitchFamily="34" charset="-120"/>
              </a:rPr>
              <a:t>The request must find its data.</a:t>
            </a:r>
            <a:endParaRPr lang="en-US" sz="1500" dirty="0"/>
          </a:p>
        </p:txBody>
      </p:sp>
      <p:sp>
        <p:nvSpPr>
          <p:cNvPr id="26" name="Text 24"/>
          <p:cNvSpPr txBox="1"/>
          <p:nvPr/>
        </p:nvSpPr>
        <p:spPr>
          <a:xfrm>
            <a:off x="6537960" y="3977640"/>
            <a:ext cx="4572000" cy="32004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replicate · shard · agree</a:t>
            </a:r>
            <a:endParaRPr lang="en-US" sz="1000" dirty="0"/>
          </a:p>
        </p:txBody>
      </p:sp>
      <p:sp>
        <p:nvSpPr>
          <p:cNvPr id="27" name="Shape 25"/>
          <p:cNvSpPr/>
          <p:nvPr/>
        </p:nvSpPr>
        <p:spPr>
          <a:xfrm>
            <a:off x="731520" y="5870448"/>
            <a:ext cx="3383280" cy="0"/>
          </a:xfrm>
          <a:prstGeom prst="line">
            <a:avLst/>
          </a:prstGeom>
          <a:noFill/>
          <a:ln w="12700">
            <a:solidFill>
              <a:srgbClr val="C9D2CD"/>
            </a:solidFill>
            <a:prstDash val="solid"/>
          </a:ln>
        </p:spPr>
      </p:sp>
      <p:sp>
        <p:nvSpPr>
          <p:cNvPr id="28" name="Text 26"/>
          <p:cNvSpPr txBox="1"/>
          <p:nvPr/>
        </p:nvSpPr>
        <p:spPr>
          <a:xfrm>
            <a:off x="7315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Stateless: start a copy, done</a:t>
            </a:r>
            <a:endParaRPr lang="en-US" sz="1300" dirty="0"/>
          </a:p>
        </p:txBody>
      </p:sp>
      <p:sp>
        <p:nvSpPr>
          <p:cNvPr id="29" name="Shape 27"/>
          <p:cNvSpPr/>
          <p:nvPr/>
        </p:nvSpPr>
        <p:spPr>
          <a:xfrm>
            <a:off x="4389120" y="5870448"/>
            <a:ext cx="3383280" cy="0"/>
          </a:xfrm>
          <a:prstGeom prst="line">
            <a:avLst/>
          </a:prstGeom>
          <a:noFill/>
          <a:ln w="12700">
            <a:solidFill>
              <a:srgbClr val="C9D2CD"/>
            </a:solidFill>
            <a:prstDash val="solid"/>
          </a:ln>
        </p:spPr>
      </p:sp>
      <p:sp>
        <p:nvSpPr>
          <p:cNvPr id="30" name="Text 28"/>
          <p:cNvSpPr txBox="1"/>
          <p:nvPr/>
        </p:nvSpPr>
        <p:spPr>
          <a:xfrm>
            <a:off x="43891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Stateful: replicate, shard, agree</a:t>
            </a:r>
            <a:endParaRPr lang="en-US" sz="1300" dirty="0"/>
          </a:p>
        </p:txBody>
      </p:sp>
      <p:sp>
        <p:nvSpPr>
          <p:cNvPr id="31" name="Shape 29"/>
          <p:cNvSpPr/>
          <p:nvPr/>
        </p:nvSpPr>
        <p:spPr>
          <a:xfrm>
            <a:off x="8046720" y="5870448"/>
            <a:ext cx="3383280" cy="0"/>
          </a:xfrm>
          <a:prstGeom prst="line">
            <a:avLst/>
          </a:prstGeom>
          <a:noFill/>
          <a:ln w="12700">
            <a:solidFill>
              <a:srgbClr val="C9D2CD"/>
            </a:solidFill>
            <a:prstDash val="solid"/>
          </a:ln>
        </p:spPr>
      </p:sp>
      <p:sp>
        <p:nvSpPr>
          <p:cNvPr id="32" name="Text 30"/>
          <p:cNvSpPr txBox="1"/>
          <p:nvPr/>
        </p:nvSpPr>
        <p:spPr>
          <a:xfrm>
            <a:off x="80467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So push state out of what you scale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1069848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Mini ISE, in four pieces</a:t>
            </a:r>
            <a:endParaRPr lang="en-US" sz="3200" dirty="0"/>
          </a:p>
        </p:txBody>
      </p:sp>
      <p:sp>
        <p:nvSpPr>
          <p:cNvPr id="3" name="Text 1"/>
          <p:cNvSpPr txBox="1"/>
          <p:nvPr/>
        </p:nvSpPr>
        <p:spPr>
          <a:xfrm>
            <a:off x="731520" y="1188720"/>
            <a:ext cx="10698480" cy="411480"/>
          </a:xfrm>
          <a:prstGeom prst="rect">
            <a:avLst/>
          </a:prstGeom>
          <a:noFill/>
          <a:ln/>
        </p:spPr>
        <p:txBody>
          <a:bodyPr wrap="square" lIns="0" tIns="0" rIns="0" bIns="0" rtlCol="0" anchor="ctr"/>
          <a:lstStyle/>
          <a:p>
            <a:pPr indent="0" marL="0">
              <a:buNone/>
            </a:pPr>
            <a:r>
              <a:rPr lang="en-US" sz="1800" dirty="0">
                <a:solidFill>
                  <a:srgbClr val="56625D"/>
                </a:solidFill>
                <a:latin typeface="Calibri" pitchFamily="34" charset="0"/>
                <a:ea typeface="Calibri" pitchFamily="34" charset="-122"/>
                <a:cs typeface="Calibri" pitchFamily="34" charset="-120"/>
              </a:rPr>
              <a:t>Who gets onto a company network — answered in under a millisecond.</a:t>
            </a:r>
            <a:endParaRPr lang="en-US" sz="1800" dirty="0"/>
          </a:p>
        </p:txBody>
      </p:sp>
      <p:sp>
        <p:nvSpPr>
          <p:cNvPr id="4" name="Shape 2"/>
          <p:cNvSpPr/>
          <p:nvPr/>
        </p:nvSpPr>
        <p:spPr>
          <a:xfrm>
            <a:off x="731520" y="1828800"/>
            <a:ext cx="5120640" cy="1371600"/>
          </a:xfrm>
          <a:prstGeom prst="roundRect">
            <a:avLst>
              <a:gd name="adj" fmla="val 6667"/>
            </a:avLst>
          </a:prstGeom>
          <a:solidFill>
            <a:srgbClr val="DDE3FB"/>
          </a:solidFill>
          <a:ln w="19050">
            <a:solidFill>
              <a:srgbClr val="2B45D9"/>
            </a:solidFill>
            <a:prstDash val="solid"/>
          </a:ln>
        </p:spPr>
      </p:sp>
      <p:sp>
        <p:nvSpPr>
          <p:cNvPr id="5" name="Text 3"/>
          <p:cNvSpPr txBox="1"/>
          <p:nvPr/>
        </p:nvSpPr>
        <p:spPr>
          <a:xfrm>
            <a:off x="1051560" y="2048256"/>
            <a:ext cx="4480560" cy="347472"/>
          </a:xfrm>
          <a:prstGeom prst="rect">
            <a:avLst/>
          </a:prstGeom>
          <a:noFill/>
          <a:ln/>
        </p:spPr>
        <p:txBody>
          <a:bodyPr wrap="square" lIns="0" tIns="0" rIns="0" bIns="0" rtlCol="0" anchor="ctr"/>
          <a:lstStyle/>
          <a:p>
            <a:pPr indent="0" marL="0">
              <a:buNone/>
            </a:pPr>
            <a:r>
              <a:rPr lang="en-US" sz="1400" b="1" dirty="0">
                <a:solidFill>
                  <a:srgbClr val="2B45D9"/>
                </a:solidFill>
                <a:latin typeface="Courier New" pitchFamily="34" charset="0"/>
                <a:ea typeface="Courier New" pitchFamily="34" charset="-122"/>
                <a:cs typeface="Courier New" pitchFamily="34" charset="-120"/>
              </a:rPr>
              <a:t>decision-service</a:t>
            </a:r>
            <a:endParaRPr lang="en-US" sz="1400" dirty="0"/>
          </a:p>
        </p:txBody>
      </p:sp>
      <p:sp>
        <p:nvSpPr>
          <p:cNvPr id="6" name="Text 4"/>
          <p:cNvSpPr txBox="1"/>
          <p:nvPr/>
        </p:nvSpPr>
        <p:spPr>
          <a:xfrm>
            <a:off x="1051560" y="2487168"/>
            <a:ext cx="4480560" cy="54864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Answers allow, deny or quarantine. The one under load.</a:t>
            </a:r>
            <a:endParaRPr lang="en-US" sz="1300" dirty="0"/>
          </a:p>
        </p:txBody>
      </p:sp>
      <p:sp>
        <p:nvSpPr>
          <p:cNvPr id="7" name="Shape 5"/>
          <p:cNvSpPr/>
          <p:nvPr/>
        </p:nvSpPr>
        <p:spPr>
          <a:xfrm>
            <a:off x="6309360" y="1828800"/>
            <a:ext cx="5120640" cy="1371600"/>
          </a:xfrm>
          <a:prstGeom prst="roundRect">
            <a:avLst>
              <a:gd name="adj" fmla="val 6667"/>
            </a:avLst>
          </a:prstGeom>
          <a:solidFill>
            <a:srgbClr val="E9EDEA"/>
          </a:solidFill>
          <a:ln w="12700">
            <a:solidFill>
              <a:srgbClr val="C9D2CD"/>
            </a:solidFill>
            <a:prstDash val="solid"/>
          </a:ln>
        </p:spPr>
      </p:sp>
      <p:sp>
        <p:nvSpPr>
          <p:cNvPr id="8" name="Text 6"/>
          <p:cNvSpPr txBox="1"/>
          <p:nvPr/>
        </p:nvSpPr>
        <p:spPr>
          <a:xfrm>
            <a:off x="6629400" y="2048256"/>
            <a:ext cx="4480560" cy="347472"/>
          </a:xfrm>
          <a:prstGeom prst="rect">
            <a:avLst/>
          </a:prstGeom>
          <a:noFill/>
          <a:ln/>
        </p:spPr>
        <p:txBody>
          <a:bodyPr wrap="square" lIns="0" tIns="0" rIns="0" bIns="0" rtlCol="0" anchor="ctr"/>
          <a:lstStyle/>
          <a:p>
            <a:pPr indent="0" marL="0">
              <a:buNone/>
            </a:pPr>
            <a:r>
              <a:rPr lang="en-US" sz="1400" b="1" dirty="0">
                <a:solidFill>
                  <a:srgbClr val="111A17"/>
                </a:solidFill>
                <a:latin typeface="Courier New" pitchFamily="34" charset="0"/>
                <a:ea typeface="Courier New" pitchFamily="34" charset="-122"/>
                <a:cs typeface="Courier New" pitchFamily="34" charset="-120"/>
              </a:rPr>
              <a:t>policy-api</a:t>
            </a:r>
            <a:endParaRPr lang="en-US" sz="1400" dirty="0"/>
          </a:p>
        </p:txBody>
      </p:sp>
      <p:sp>
        <p:nvSpPr>
          <p:cNvPr id="9" name="Text 7"/>
          <p:cNvSpPr txBox="1"/>
          <p:nvPr/>
        </p:nvSpPr>
        <p:spPr>
          <a:xfrm>
            <a:off x="6629400" y="2487168"/>
            <a:ext cx="4480560" cy="54864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Where the rules live, and where Claude drafts them.</a:t>
            </a:r>
            <a:endParaRPr lang="en-US" sz="1300" dirty="0"/>
          </a:p>
        </p:txBody>
      </p:sp>
      <p:sp>
        <p:nvSpPr>
          <p:cNvPr id="10" name="Shape 8"/>
          <p:cNvSpPr/>
          <p:nvPr/>
        </p:nvSpPr>
        <p:spPr>
          <a:xfrm>
            <a:off x="731520" y="3429000"/>
            <a:ext cx="5120640" cy="1371600"/>
          </a:xfrm>
          <a:prstGeom prst="roundRect">
            <a:avLst>
              <a:gd name="adj" fmla="val 6667"/>
            </a:avLst>
          </a:prstGeom>
          <a:solidFill>
            <a:srgbClr val="E9EDEA"/>
          </a:solidFill>
          <a:ln w="12700">
            <a:solidFill>
              <a:srgbClr val="C9D2CD"/>
            </a:solidFill>
            <a:prstDash val="solid"/>
          </a:ln>
        </p:spPr>
      </p:sp>
      <p:sp>
        <p:nvSpPr>
          <p:cNvPr id="11" name="Text 9"/>
          <p:cNvSpPr txBox="1"/>
          <p:nvPr/>
        </p:nvSpPr>
        <p:spPr>
          <a:xfrm>
            <a:off x="1051560" y="3648456"/>
            <a:ext cx="4480560" cy="347472"/>
          </a:xfrm>
          <a:prstGeom prst="rect">
            <a:avLst/>
          </a:prstGeom>
          <a:noFill/>
          <a:ln/>
        </p:spPr>
        <p:txBody>
          <a:bodyPr wrap="square" lIns="0" tIns="0" rIns="0" bIns="0" rtlCol="0" anchor="ctr"/>
          <a:lstStyle/>
          <a:p>
            <a:pPr indent="0" marL="0">
              <a:buNone/>
            </a:pPr>
            <a:r>
              <a:rPr lang="en-US" sz="1400" b="1" dirty="0">
                <a:solidFill>
                  <a:srgbClr val="111A17"/>
                </a:solidFill>
                <a:latin typeface="Courier New" pitchFamily="34" charset="0"/>
                <a:ea typeface="Courier New" pitchFamily="34" charset="-122"/>
                <a:cs typeface="Courier New" pitchFamily="34" charset="-120"/>
              </a:rPr>
              <a:t>console</a:t>
            </a:r>
            <a:endParaRPr lang="en-US" sz="1400" dirty="0"/>
          </a:p>
        </p:txBody>
      </p:sp>
      <p:sp>
        <p:nvSpPr>
          <p:cNvPr id="12" name="Text 10"/>
          <p:cNvSpPr txBox="1"/>
          <p:nvPr/>
        </p:nvSpPr>
        <p:spPr>
          <a:xfrm>
            <a:off x="1051560" y="4087368"/>
            <a:ext cx="4480560" cy="54864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React. Admins write rules and watch decisions land.</a:t>
            </a:r>
            <a:endParaRPr lang="en-US" sz="1300" dirty="0"/>
          </a:p>
        </p:txBody>
      </p:sp>
      <p:sp>
        <p:nvSpPr>
          <p:cNvPr id="13" name="Shape 11"/>
          <p:cNvSpPr/>
          <p:nvPr/>
        </p:nvSpPr>
        <p:spPr>
          <a:xfrm>
            <a:off x="6309360" y="3429000"/>
            <a:ext cx="5120640" cy="1371600"/>
          </a:xfrm>
          <a:prstGeom prst="roundRect">
            <a:avLst>
              <a:gd name="adj" fmla="val 6667"/>
            </a:avLst>
          </a:prstGeom>
          <a:solidFill>
            <a:srgbClr val="E9EDEA"/>
          </a:solidFill>
          <a:ln w="12700">
            <a:solidFill>
              <a:srgbClr val="C9D2CD"/>
            </a:solidFill>
            <a:prstDash val="solid"/>
          </a:ln>
        </p:spPr>
      </p:sp>
      <p:sp>
        <p:nvSpPr>
          <p:cNvPr id="14" name="Text 12"/>
          <p:cNvSpPr txBox="1"/>
          <p:nvPr/>
        </p:nvSpPr>
        <p:spPr>
          <a:xfrm>
            <a:off x="6629400" y="3648456"/>
            <a:ext cx="4480560" cy="347472"/>
          </a:xfrm>
          <a:prstGeom prst="rect">
            <a:avLst/>
          </a:prstGeom>
          <a:noFill/>
          <a:ln/>
        </p:spPr>
        <p:txBody>
          <a:bodyPr wrap="square" lIns="0" tIns="0" rIns="0" bIns="0" rtlCol="0" anchor="ctr"/>
          <a:lstStyle/>
          <a:p>
            <a:pPr indent="0" marL="0">
              <a:buNone/>
            </a:pPr>
            <a:r>
              <a:rPr lang="en-US" sz="1400" b="1" dirty="0">
                <a:solidFill>
                  <a:srgbClr val="111A17"/>
                </a:solidFill>
                <a:latin typeface="Courier New" pitchFamily="34" charset="0"/>
                <a:ea typeface="Courier New" pitchFamily="34" charset="-122"/>
                <a:cs typeface="Courier New" pitchFamily="34" charset="-120"/>
              </a:rPr>
              <a:t>simulator</a:t>
            </a:r>
            <a:endParaRPr lang="en-US" sz="1400" dirty="0"/>
          </a:p>
        </p:txBody>
      </p:sp>
      <p:sp>
        <p:nvSpPr>
          <p:cNvPr id="15" name="Text 13"/>
          <p:cNvSpPr txBox="1"/>
          <p:nvPr/>
        </p:nvSpPr>
        <p:spPr>
          <a:xfrm>
            <a:off x="6629400" y="4087368"/>
            <a:ext cx="4480560" cy="54864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Fake devices, so there is traffic to watch.</a:t>
            </a:r>
            <a:endParaRPr lang="en-US" sz="1300" dirty="0"/>
          </a:p>
        </p:txBody>
      </p:sp>
      <p:sp>
        <p:nvSpPr>
          <p:cNvPr id="16" name="Text 14"/>
          <p:cNvSpPr txBox="1"/>
          <p:nvPr/>
        </p:nvSpPr>
        <p:spPr>
          <a:xfrm>
            <a:off x="731520" y="5212080"/>
            <a:ext cx="10698480" cy="36576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Real Python, FastAPI, Postgres and Kubernetes. The only invented part is the devices.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685800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Watch it decide</a:t>
            </a:r>
            <a:endParaRPr lang="en-US" sz="3200" dirty="0"/>
          </a:p>
        </p:txBody>
      </p:sp>
      <p:sp>
        <p:nvSpPr>
          <p:cNvPr id="3" name="Shape 1"/>
          <p:cNvSpPr/>
          <p:nvPr/>
        </p:nvSpPr>
        <p:spPr>
          <a:xfrm>
            <a:off x="7863840" y="457200"/>
            <a:ext cx="3566160" cy="411480"/>
          </a:xfrm>
          <a:prstGeom prst="roundRect">
            <a:avLst>
              <a:gd name="adj" fmla="val 17778"/>
            </a:avLst>
          </a:prstGeom>
          <a:solidFill>
            <a:srgbClr val="D4ECDD"/>
          </a:solidFill>
          <a:ln w="6350">
            <a:solidFill>
              <a:srgbClr val="D4ECDD"/>
            </a:solidFill>
            <a:prstDash val="solid"/>
          </a:ln>
        </p:spPr>
      </p:sp>
      <p:sp>
        <p:nvSpPr>
          <p:cNvPr id="4" name="Text 2"/>
          <p:cNvSpPr txBox="1"/>
          <p:nvPr/>
        </p:nvSpPr>
        <p:spPr>
          <a:xfrm>
            <a:off x="7863840" y="530352"/>
            <a:ext cx="3566160" cy="274320"/>
          </a:xfrm>
          <a:prstGeom prst="rect">
            <a:avLst/>
          </a:prstGeom>
          <a:noFill/>
          <a:ln/>
        </p:spPr>
        <p:txBody>
          <a:bodyPr wrap="square" lIns="0" tIns="0" rIns="0" bIns="0" rtlCol="0" anchor="ctr"/>
          <a:lstStyle/>
          <a:p>
            <a:pPr algn="ctr" indent="0" marL="0">
              <a:buNone/>
            </a:pPr>
            <a:r>
              <a:rPr lang="en-US" sz="900" spc="100" kern="0" dirty="0">
                <a:solidFill>
                  <a:srgbClr val="15804F"/>
                </a:solidFill>
                <a:latin typeface="Courier New" pitchFamily="34" charset="0"/>
                <a:ea typeface="Courier New" pitchFamily="34" charset="-122"/>
                <a:cs typeface="Courier New" pitchFamily="34" charset="-120"/>
              </a:rPr>
              <a:t>REAL ENGINE · SIMULATED DEVICES</a:t>
            </a:r>
            <a:endParaRPr lang="en-US" sz="900" dirty="0"/>
          </a:p>
        </p:txBody>
      </p:sp>
      <p:sp>
        <p:nvSpPr>
          <p:cNvPr id="5" name="Shape 3"/>
          <p:cNvSpPr/>
          <p:nvPr/>
        </p:nvSpPr>
        <p:spPr>
          <a:xfrm>
            <a:off x="731520" y="1463040"/>
            <a:ext cx="10698480" cy="777240"/>
          </a:xfrm>
          <a:prstGeom prst="roundRect">
            <a:avLst>
              <a:gd name="adj" fmla="val 9412"/>
            </a:avLst>
          </a:prstGeom>
          <a:solidFill>
            <a:srgbClr val="E9EDEA"/>
          </a:solidFill>
          <a:ln w="12700">
            <a:solidFill>
              <a:srgbClr val="C9D2CD"/>
            </a:solidFill>
            <a:prstDash val="solid"/>
          </a:ln>
        </p:spPr>
      </p:sp>
      <p:sp>
        <p:nvSpPr>
          <p:cNvPr id="6" name="Text 4"/>
          <p:cNvSpPr txBox="1"/>
          <p:nvPr/>
        </p:nvSpPr>
        <p:spPr>
          <a:xfrm>
            <a:off x="1005840" y="1709928"/>
            <a:ext cx="3657600" cy="32004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contractor · wiki · office · 18:00</a:t>
            </a:r>
            <a:endParaRPr lang="en-US" sz="1000" dirty="0"/>
          </a:p>
        </p:txBody>
      </p:sp>
      <p:sp>
        <p:nvSpPr>
          <p:cNvPr id="7" name="Shape 5"/>
          <p:cNvSpPr/>
          <p:nvPr/>
        </p:nvSpPr>
        <p:spPr>
          <a:xfrm>
            <a:off x="4846320" y="1664208"/>
            <a:ext cx="1691640" cy="384048"/>
          </a:xfrm>
          <a:prstGeom prst="roundRect">
            <a:avLst>
              <a:gd name="adj" fmla="val 19048"/>
            </a:avLst>
          </a:prstGeom>
          <a:solidFill>
            <a:srgbClr val="D4ECDD"/>
          </a:solidFill>
          <a:ln w="12700">
            <a:solidFill>
              <a:srgbClr val="15804F"/>
            </a:solidFill>
            <a:prstDash val="solid"/>
          </a:ln>
        </p:spPr>
      </p:sp>
      <p:sp>
        <p:nvSpPr>
          <p:cNvPr id="8" name="Text 6"/>
          <p:cNvSpPr txBox="1"/>
          <p:nvPr/>
        </p:nvSpPr>
        <p:spPr>
          <a:xfrm>
            <a:off x="4846320" y="1728216"/>
            <a:ext cx="1691640" cy="274320"/>
          </a:xfrm>
          <a:prstGeom prst="rect">
            <a:avLst/>
          </a:prstGeom>
          <a:noFill/>
          <a:ln/>
        </p:spPr>
        <p:txBody>
          <a:bodyPr wrap="square" lIns="0" tIns="0" rIns="0" bIns="0" rtlCol="0" anchor="ctr"/>
          <a:lstStyle/>
          <a:p>
            <a:pPr algn="ctr" indent="0" marL="0">
              <a:buNone/>
            </a:pPr>
            <a:r>
              <a:rPr lang="en-US" sz="900" b="1" dirty="0">
                <a:solidFill>
                  <a:srgbClr val="15804F"/>
                </a:solidFill>
                <a:latin typeface="Courier New" pitchFamily="34" charset="0"/>
                <a:ea typeface="Courier New" pitchFamily="34" charset="-122"/>
                <a:cs typeface="Courier New" pitchFamily="34" charset="-120"/>
              </a:rPr>
              <a:t>ALLOW</a:t>
            </a:r>
            <a:endParaRPr lang="en-US" sz="900" dirty="0"/>
          </a:p>
        </p:txBody>
      </p:sp>
      <p:sp>
        <p:nvSpPr>
          <p:cNvPr id="9" name="Text 7"/>
          <p:cNvSpPr txBox="1"/>
          <p:nvPr/>
        </p:nvSpPr>
        <p:spPr>
          <a:xfrm>
            <a:off x="6766560" y="1700784"/>
            <a:ext cx="4389120" cy="365760"/>
          </a:xfrm>
          <a:prstGeom prst="rect">
            <a:avLst/>
          </a:prstGeom>
          <a:noFill/>
          <a:ln/>
        </p:spPr>
        <p:txBody>
          <a:bodyPr wrap="square" lIns="0" tIns="0" rIns="0" bIns="0" rtlCol="0" anchor="ctr"/>
          <a:lstStyle/>
          <a:p>
            <a:pPr indent="0" marL="0">
              <a:buNone/>
            </a:pPr>
            <a:r>
              <a:rPr lang="en-US" sz="1300" dirty="0">
                <a:solidFill>
                  <a:srgbClr val="111A17"/>
                </a:solidFill>
                <a:latin typeface="Calibri" pitchFamily="34" charset="0"/>
                <a:ea typeface="Calibri" pitchFamily="34" charset="-122"/>
                <a:cs typeface="Calibri" pitchFamily="34" charset="-120"/>
              </a:rPr>
              <a:t>Contractor on a company-managed device</a:t>
            </a:r>
            <a:endParaRPr lang="en-US" sz="1300" dirty="0"/>
          </a:p>
        </p:txBody>
      </p:sp>
      <p:sp>
        <p:nvSpPr>
          <p:cNvPr id="10" name="Shape 8"/>
          <p:cNvSpPr/>
          <p:nvPr/>
        </p:nvSpPr>
        <p:spPr>
          <a:xfrm>
            <a:off x="731520" y="2395728"/>
            <a:ext cx="10698480" cy="777240"/>
          </a:xfrm>
          <a:prstGeom prst="roundRect">
            <a:avLst>
              <a:gd name="adj" fmla="val 9412"/>
            </a:avLst>
          </a:prstGeom>
          <a:solidFill>
            <a:srgbClr val="E9EDEA"/>
          </a:solidFill>
          <a:ln w="12700">
            <a:solidFill>
              <a:srgbClr val="C9D2CD"/>
            </a:solidFill>
            <a:prstDash val="solid"/>
          </a:ln>
        </p:spPr>
      </p:sp>
      <p:sp>
        <p:nvSpPr>
          <p:cNvPr id="11" name="Text 9"/>
          <p:cNvSpPr txBox="1"/>
          <p:nvPr/>
        </p:nvSpPr>
        <p:spPr>
          <a:xfrm>
            <a:off x="1005840" y="2642616"/>
            <a:ext cx="3657600" cy="32004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guest · hr · remote · 20:00</a:t>
            </a:r>
            <a:endParaRPr lang="en-US" sz="1000" dirty="0"/>
          </a:p>
        </p:txBody>
      </p:sp>
      <p:sp>
        <p:nvSpPr>
          <p:cNvPr id="12" name="Shape 10"/>
          <p:cNvSpPr/>
          <p:nvPr/>
        </p:nvSpPr>
        <p:spPr>
          <a:xfrm>
            <a:off x="4846320" y="2596896"/>
            <a:ext cx="1691640" cy="384048"/>
          </a:xfrm>
          <a:prstGeom prst="roundRect">
            <a:avLst>
              <a:gd name="adj" fmla="val 19048"/>
            </a:avLst>
          </a:prstGeom>
          <a:solidFill>
            <a:srgbClr val="F5D9D4"/>
          </a:solidFill>
          <a:ln w="12700">
            <a:solidFill>
              <a:srgbClr val="C0392B"/>
            </a:solidFill>
            <a:prstDash val="solid"/>
          </a:ln>
        </p:spPr>
      </p:sp>
      <p:sp>
        <p:nvSpPr>
          <p:cNvPr id="13" name="Text 11"/>
          <p:cNvSpPr txBox="1"/>
          <p:nvPr/>
        </p:nvSpPr>
        <p:spPr>
          <a:xfrm>
            <a:off x="4846320" y="2660904"/>
            <a:ext cx="1691640"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ourier New" pitchFamily="34" charset="0"/>
                <a:ea typeface="Courier New" pitchFamily="34" charset="-122"/>
                <a:cs typeface="Courier New" pitchFamily="34" charset="-120"/>
              </a:rPr>
              <a:t>DENY</a:t>
            </a:r>
            <a:endParaRPr lang="en-US" sz="900" dirty="0"/>
          </a:p>
        </p:txBody>
      </p:sp>
      <p:sp>
        <p:nvSpPr>
          <p:cNvPr id="14" name="Text 12"/>
          <p:cNvSpPr txBox="1"/>
          <p:nvPr/>
        </p:nvSpPr>
        <p:spPr>
          <a:xfrm>
            <a:off x="6766560" y="2633472"/>
            <a:ext cx="4389120" cy="365760"/>
          </a:xfrm>
          <a:prstGeom prst="rect">
            <a:avLst/>
          </a:prstGeom>
          <a:noFill/>
          <a:ln/>
        </p:spPr>
        <p:txBody>
          <a:bodyPr wrap="square" lIns="0" tIns="0" rIns="0" bIns="0" rtlCol="0" anchor="ctr"/>
          <a:lstStyle/>
          <a:p>
            <a:pPr indent="0" marL="0">
              <a:buNone/>
            </a:pPr>
            <a:r>
              <a:rPr lang="en-US" sz="1300" dirty="0">
                <a:solidFill>
                  <a:srgbClr val="111A17"/>
                </a:solidFill>
                <a:latin typeface="Calibri" pitchFamily="34" charset="0"/>
                <a:ea typeface="Calibri" pitchFamily="34" charset="-122"/>
                <a:cs typeface="Calibri" pitchFamily="34" charset="-120"/>
              </a:rPr>
              <a:t>Guests may only access the wiki</a:t>
            </a:r>
            <a:endParaRPr lang="en-US" sz="1300" dirty="0"/>
          </a:p>
        </p:txBody>
      </p:sp>
      <p:sp>
        <p:nvSpPr>
          <p:cNvPr id="15" name="Shape 13"/>
          <p:cNvSpPr/>
          <p:nvPr/>
        </p:nvSpPr>
        <p:spPr>
          <a:xfrm>
            <a:off x="731520" y="3328416"/>
            <a:ext cx="10698480" cy="777240"/>
          </a:xfrm>
          <a:prstGeom prst="roundRect">
            <a:avLst>
              <a:gd name="adj" fmla="val 9412"/>
            </a:avLst>
          </a:prstGeom>
          <a:solidFill>
            <a:srgbClr val="E9EDEA"/>
          </a:solidFill>
          <a:ln w="12700">
            <a:solidFill>
              <a:srgbClr val="C9D2CD"/>
            </a:solidFill>
            <a:prstDash val="solid"/>
          </a:ln>
        </p:spPr>
      </p:sp>
      <p:sp>
        <p:nvSpPr>
          <p:cNvPr id="16" name="Text 14"/>
          <p:cNvSpPr txBox="1"/>
          <p:nvPr/>
        </p:nvSpPr>
        <p:spPr>
          <a:xfrm>
            <a:off x="1005840" y="3575304"/>
            <a:ext cx="3657600" cy="32004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admin · wiki · remote · 08:00</a:t>
            </a:r>
            <a:endParaRPr lang="en-US" sz="1000" dirty="0"/>
          </a:p>
        </p:txBody>
      </p:sp>
      <p:sp>
        <p:nvSpPr>
          <p:cNvPr id="17" name="Shape 15"/>
          <p:cNvSpPr/>
          <p:nvPr/>
        </p:nvSpPr>
        <p:spPr>
          <a:xfrm>
            <a:off x="4846320" y="3529584"/>
            <a:ext cx="1691640" cy="384048"/>
          </a:xfrm>
          <a:prstGeom prst="roundRect">
            <a:avLst>
              <a:gd name="adj" fmla="val 19048"/>
            </a:avLst>
          </a:prstGeom>
          <a:solidFill>
            <a:srgbClr val="F5E6C6"/>
          </a:solidFill>
          <a:ln w="12700">
            <a:solidFill>
              <a:srgbClr val="A8680A"/>
            </a:solidFill>
            <a:prstDash val="solid"/>
          </a:ln>
        </p:spPr>
      </p:sp>
      <p:sp>
        <p:nvSpPr>
          <p:cNvPr id="18" name="Text 16"/>
          <p:cNvSpPr txBox="1"/>
          <p:nvPr/>
        </p:nvSpPr>
        <p:spPr>
          <a:xfrm>
            <a:off x="4846320" y="3593592"/>
            <a:ext cx="1691640" cy="274320"/>
          </a:xfrm>
          <a:prstGeom prst="rect">
            <a:avLst/>
          </a:prstGeom>
          <a:noFill/>
          <a:ln/>
        </p:spPr>
        <p:txBody>
          <a:bodyPr wrap="square" lIns="0" tIns="0" rIns="0" bIns="0" rtlCol="0" anchor="ctr"/>
          <a:lstStyle/>
          <a:p>
            <a:pPr algn="ctr" indent="0" marL="0">
              <a:buNone/>
            </a:pPr>
            <a:r>
              <a:rPr lang="en-US" sz="900" b="1" dirty="0">
                <a:solidFill>
                  <a:srgbClr val="A8680A"/>
                </a:solidFill>
                <a:latin typeface="Courier New" pitchFamily="34" charset="0"/>
                <a:ea typeface="Courier New" pitchFamily="34" charset="-122"/>
                <a:cs typeface="Courier New" pitchFamily="34" charset="-120"/>
              </a:rPr>
              <a:t>QUARANTINE</a:t>
            </a:r>
            <a:endParaRPr lang="en-US" sz="900" dirty="0"/>
          </a:p>
        </p:txBody>
      </p:sp>
      <p:sp>
        <p:nvSpPr>
          <p:cNvPr id="19" name="Text 17"/>
          <p:cNvSpPr txBox="1"/>
          <p:nvPr/>
        </p:nvSpPr>
        <p:spPr>
          <a:xfrm>
            <a:off x="6766560" y="3566160"/>
            <a:ext cx="4389120" cy="365760"/>
          </a:xfrm>
          <a:prstGeom prst="rect">
            <a:avLst/>
          </a:prstGeom>
          <a:noFill/>
          <a:ln/>
        </p:spPr>
        <p:txBody>
          <a:bodyPr wrap="square" lIns="0" tIns="0" rIns="0" bIns="0" rtlCol="0" anchor="ctr"/>
          <a:lstStyle/>
          <a:p>
            <a:pPr indent="0" marL="0">
              <a:buNone/>
            </a:pPr>
            <a:r>
              <a:rPr lang="en-US" sz="1300" dirty="0">
                <a:solidFill>
                  <a:srgbClr val="111A17"/>
                </a:solidFill>
                <a:latin typeface="Calibri" pitchFamily="34" charset="0"/>
                <a:ea typeface="Calibri" pitchFamily="34" charset="-122"/>
                <a:cs typeface="Calibri" pitchFamily="34" charset="-120"/>
              </a:rPr>
              <a:t>Device disk is not encrypted</a:t>
            </a:r>
            <a:endParaRPr lang="en-US" sz="1300" dirty="0"/>
          </a:p>
        </p:txBody>
      </p:sp>
      <p:sp>
        <p:nvSpPr>
          <p:cNvPr id="20" name="Shape 18"/>
          <p:cNvSpPr/>
          <p:nvPr/>
        </p:nvSpPr>
        <p:spPr>
          <a:xfrm>
            <a:off x="731520" y="4261104"/>
            <a:ext cx="10698480" cy="777240"/>
          </a:xfrm>
          <a:prstGeom prst="roundRect">
            <a:avLst>
              <a:gd name="adj" fmla="val 9412"/>
            </a:avLst>
          </a:prstGeom>
          <a:solidFill>
            <a:srgbClr val="E9EDEA"/>
          </a:solidFill>
          <a:ln w="12700">
            <a:solidFill>
              <a:srgbClr val="C9D2CD"/>
            </a:solidFill>
            <a:prstDash val="solid"/>
          </a:ln>
        </p:spPr>
      </p:sp>
      <p:sp>
        <p:nvSpPr>
          <p:cNvPr id="21" name="Text 19"/>
          <p:cNvSpPr txBox="1"/>
          <p:nvPr/>
        </p:nvSpPr>
        <p:spPr>
          <a:xfrm>
            <a:off x="1005840" y="4507992"/>
            <a:ext cx="3657600" cy="32004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employee · finance · remote · 19:00</a:t>
            </a:r>
            <a:endParaRPr lang="en-US" sz="1000" dirty="0"/>
          </a:p>
        </p:txBody>
      </p:sp>
      <p:sp>
        <p:nvSpPr>
          <p:cNvPr id="22" name="Shape 20"/>
          <p:cNvSpPr/>
          <p:nvPr/>
        </p:nvSpPr>
        <p:spPr>
          <a:xfrm>
            <a:off x="4846320" y="4462272"/>
            <a:ext cx="1691640" cy="384048"/>
          </a:xfrm>
          <a:prstGeom prst="roundRect">
            <a:avLst>
              <a:gd name="adj" fmla="val 19048"/>
            </a:avLst>
          </a:prstGeom>
          <a:solidFill>
            <a:srgbClr val="F5D9D4"/>
          </a:solidFill>
          <a:ln w="12700">
            <a:solidFill>
              <a:srgbClr val="C0392B"/>
            </a:solidFill>
            <a:prstDash val="solid"/>
          </a:ln>
        </p:spPr>
      </p:sp>
      <p:sp>
        <p:nvSpPr>
          <p:cNvPr id="23" name="Text 21"/>
          <p:cNvSpPr txBox="1"/>
          <p:nvPr/>
        </p:nvSpPr>
        <p:spPr>
          <a:xfrm>
            <a:off x="4846320" y="4526280"/>
            <a:ext cx="1691640"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ourier New" pitchFamily="34" charset="0"/>
                <a:ea typeface="Courier New" pitchFamily="34" charset="-122"/>
                <a:cs typeface="Courier New" pitchFamily="34" charset="-120"/>
              </a:rPr>
              <a:t>DENY</a:t>
            </a:r>
            <a:endParaRPr lang="en-US" sz="900" dirty="0"/>
          </a:p>
        </p:txBody>
      </p:sp>
      <p:sp>
        <p:nvSpPr>
          <p:cNvPr id="24" name="Text 22"/>
          <p:cNvSpPr txBox="1"/>
          <p:nvPr/>
        </p:nvSpPr>
        <p:spPr>
          <a:xfrm>
            <a:off x="6766560" y="4498848"/>
            <a:ext cx="4389120" cy="365760"/>
          </a:xfrm>
          <a:prstGeom prst="rect">
            <a:avLst/>
          </a:prstGeom>
          <a:noFill/>
          <a:ln/>
        </p:spPr>
        <p:txBody>
          <a:bodyPr wrap="square" lIns="0" tIns="0" rIns="0" bIns="0" rtlCol="0" anchor="ctr"/>
          <a:lstStyle/>
          <a:p>
            <a:pPr indent="0" marL="0">
              <a:buNone/>
            </a:pPr>
            <a:r>
              <a:rPr lang="en-US" sz="1300" dirty="0">
                <a:solidFill>
                  <a:srgbClr val="111A17"/>
                </a:solidFill>
                <a:latin typeface="Calibri" pitchFamily="34" charset="0"/>
                <a:ea typeface="Calibri" pitchFamily="34" charset="-122"/>
                <a:cs typeface="Calibri" pitchFamily="34" charset="-120"/>
              </a:rPr>
              <a:t>Contractors cannot access finance or HR</a:t>
            </a:r>
            <a:endParaRPr lang="en-US" sz="1300" dirty="0"/>
          </a:p>
        </p:txBody>
      </p:sp>
      <p:sp>
        <p:nvSpPr>
          <p:cNvPr id="25" name="Text 23"/>
          <p:cNvSpPr txBox="1"/>
          <p:nvPr/>
        </p:nvSpPr>
        <p:spPr>
          <a:xfrm>
            <a:off x="731520" y="5440680"/>
            <a:ext cx="10698480" cy="36576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This runs live in the web deck: mini-ise.vercel.app/#/slides/3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1069848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How it’s put together</a:t>
            </a:r>
            <a:endParaRPr lang="en-US" sz="3200" dirty="0"/>
          </a:p>
        </p:txBody>
      </p:sp>
      <p:sp>
        <p:nvSpPr>
          <p:cNvPr id="3" name="Text 1"/>
          <p:cNvSpPr txBox="1"/>
          <p:nvPr/>
        </p:nvSpPr>
        <p:spPr>
          <a:xfrm>
            <a:off x="731520" y="1325880"/>
            <a:ext cx="5486400" cy="256032"/>
          </a:xfrm>
          <a:prstGeom prst="rect">
            <a:avLst/>
          </a:prstGeom>
          <a:noFill/>
          <a:ln/>
        </p:spPr>
        <p:txBody>
          <a:bodyPr wrap="square" lIns="0" tIns="0" rIns="0" bIns="0" rtlCol="0" anchor="ctr"/>
          <a:lstStyle/>
          <a:p>
            <a:pPr indent="0" marL="0">
              <a:buNone/>
            </a:pPr>
            <a:r>
              <a:rPr lang="en-US" sz="1000" spc="100" kern="0" dirty="0">
                <a:solidFill>
                  <a:srgbClr val="56625D"/>
                </a:solidFill>
                <a:latin typeface="Courier New" pitchFamily="34" charset="0"/>
                <a:ea typeface="Courier New" pitchFamily="34" charset="-122"/>
                <a:cs typeface="Courier New" pitchFamily="34" charset="-120"/>
              </a:rPr>
              <a:t>ADMIN PATH · A FEW PEOPLE</a:t>
            </a:r>
            <a:endParaRPr lang="en-US" sz="1000" dirty="0"/>
          </a:p>
        </p:txBody>
      </p:sp>
      <p:sp>
        <p:nvSpPr>
          <p:cNvPr id="4" name="Shape 2"/>
          <p:cNvSpPr/>
          <p:nvPr/>
        </p:nvSpPr>
        <p:spPr>
          <a:xfrm>
            <a:off x="731520" y="1627632"/>
            <a:ext cx="2377440" cy="868680"/>
          </a:xfrm>
          <a:prstGeom prst="roundRect">
            <a:avLst>
              <a:gd name="adj" fmla="val 6316"/>
            </a:avLst>
          </a:prstGeom>
          <a:solidFill>
            <a:srgbClr val="F7F9F8"/>
          </a:solidFill>
          <a:ln w="12700">
            <a:solidFill>
              <a:srgbClr val="C9D2CD"/>
            </a:solidFill>
            <a:prstDash val="solid"/>
          </a:ln>
        </p:spPr>
      </p:sp>
      <p:sp>
        <p:nvSpPr>
          <p:cNvPr id="5" name="Text 3"/>
          <p:cNvSpPr txBox="1"/>
          <p:nvPr/>
        </p:nvSpPr>
        <p:spPr>
          <a:xfrm>
            <a:off x="731520" y="1746504"/>
            <a:ext cx="2377440" cy="320040"/>
          </a:xfrm>
          <a:prstGeom prst="rect">
            <a:avLst/>
          </a:prstGeom>
          <a:noFill/>
          <a:ln/>
        </p:spPr>
        <p:txBody>
          <a:bodyPr wrap="square" lIns="0" tIns="0" rIns="0" bIns="0" rtlCol="0" anchor="ctr"/>
          <a:lstStyle/>
          <a:p>
            <a:pPr algn="ctr" indent="0" marL="0">
              <a:buNone/>
            </a:pPr>
            <a:r>
              <a:rPr lang="en-US" sz="1500" b="1" dirty="0">
                <a:solidFill>
                  <a:srgbClr val="111A17"/>
                </a:solidFill>
                <a:latin typeface="Arial" pitchFamily="34" charset="0"/>
                <a:ea typeface="Arial" pitchFamily="34" charset="-122"/>
                <a:cs typeface="Arial" pitchFamily="34" charset="-120"/>
              </a:rPr>
              <a:t>Console</a:t>
            </a:r>
            <a:endParaRPr lang="en-US" sz="1500" dirty="0"/>
          </a:p>
        </p:txBody>
      </p:sp>
      <p:sp>
        <p:nvSpPr>
          <p:cNvPr id="6" name="Text 4"/>
          <p:cNvSpPr txBox="1"/>
          <p:nvPr/>
        </p:nvSpPr>
        <p:spPr>
          <a:xfrm>
            <a:off x="731520" y="2084832"/>
            <a:ext cx="2377440" cy="2286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React + TS</a:t>
            </a:r>
            <a:endParaRPr lang="en-US" sz="900" dirty="0"/>
          </a:p>
        </p:txBody>
      </p:sp>
      <p:sp>
        <p:nvSpPr>
          <p:cNvPr id="7" name="Shape 5"/>
          <p:cNvSpPr/>
          <p:nvPr/>
        </p:nvSpPr>
        <p:spPr>
          <a:xfrm>
            <a:off x="4114800" y="1627632"/>
            <a:ext cx="2560320" cy="868680"/>
          </a:xfrm>
          <a:prstGeom prst="roundRect">
            <a:avLst>
              <a:gd name="adj" fmla="val 6316"/>
            </a:avLst>
          </a:prstGeom>
          <a:solidFill>
            <a:srgbClr val="F7F9F8"/>
          </a:solidFill>
          <a:ln w="12700">
            <a:solidFill>
              <a:srgbClr val="C9D2CD"/>
            </a:solidFill>
            <a:prstDash val="solid"/>
          </a:ln>
        </p:spPr>
      </p:sp>
      <p:sp>
        <p:nvSpPr>
          <p:cNvPr id="8" name="Text 6"/>
          <p:cNvSpPr txBox="1"/>
          <p:nvPr/>
        </p:nvSpPr>
        <p:spPr>
          <a:xfrm>
            <a:off x="4114800" y="1746504"/>
            <a:ext cx="2560320" cy="320040"/>
          </a:xfrm>
          <a:prstGeom prst="rect">
            <a:avLst/>
          </a:prstGeom>
          <a:noFill/>
          <a:ln/>
        </p:spPr>
        <p:txBody>
          <a:bodyPr wrap="square" lIns="0" tIns="0" rIns="0" bIns="0" rtlCol="0" anchor="ctr"/>
          <a:lstStyle/>
          <a:p>
            <a:pPr algn="ctr" indent="0" marL="0">
              <a:buNone/>
            </a:pPr>
            <a:r>
              <a:rPr lang="en-US" sz="1500" b="1" dirty="0">
                <a:solidFill>
                  <a:srgbClr val="111A17"/>
                </a:solidFill>
                <a:latin typeface="Arial" pitchFamily="34" charset="0"/>
                <a:ea typeface="Arial" pitchFamily="34" charset="-122"/>
                <a:cs typeface="Arial" pitchFamily="34" charset="-120"/>
              </a:rPr>
              <a:t>policy-api</a:t>
            </a:r>
            <a:endParaRPr lang="en-US" sz="1500" dirty="0"/>
          </a:p>
        </p:txBody>
      </p:sp>
      <p:sp>
        <p:nvSpPr>
          <p:cNvPr id="9" name="Text 7"/>
          <p:cNvSpPr txBox="1"/>
          <p:nvPr/>
        </p:nvSpPr>
        <p:spPr>
          <a:xfrm>
            <a:off x="4114800" y="2084832"/>
            <a:ext cx="2560320" cy="2286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FastAPI</a:t>
            </a:r>
            <a:endParaRPr lang="en-US" sz="900" dirty="0"/>
          </a:p>
        </p:txBody>
      </p:sp>
      <p:sp>
        <p:nvSpPr>
          <p:cNvPr id="10" name="Shape 8"/>
          <p:cNvSpPr/>
          <p:nvPr/>
        </p:nvSpPr>
        <p:spPr>
          <a:xfrm>
            <a:off x="3154680" y="2066544"/>
            <a:ext cx="914400" cy="0"/>
          </a:xfrm>
          <a:prstGeom prst="line">
            <a:avLst/>
          </a:prstGeom>
          <a:noFill/>
          <a:ln w="19050">
            <a:solidFill>
              <a:srgbClr val="56625D"/>
            </a:solidFill>
            <a:prstDash val="solid"/>
            <a:tailEnd type="triangle"/>
          </a:ln>
        </p:spPr>
      </p:sp>
      <p:sp>
        <p:nvSpPr>
          <p:cNvPr id="11" name="Shape 9"/>
          <p:cNvSpPr/>
          <p:nvPr/>
        </p:nvSpPr>
        <p:spPr>
          <a:xfrm>
            <a:off x="6720840" y="2066544"/>
            <a:ext cx="1600200" cy="777240"/>
          </a:xfrm>
          <a:prstGeom prst="line">
            <a:avLst/>
          </a:prstGeom>
          <a:noFill/>
          <a:ln w="19050">
            <a:solidFill>
              <a:srgbClr val="56625D"/>
            </a:solidFill>
            <a:prstDash val="solid"/>
            <a:tailEnd type="triangle"/>
          </a:ln>
        </p:spPr>
      </p:sp>
      <p:sp>
        <p:nvSpPr>
          <p:cNvPr id="12" name="Shape 10"/>
          <p:cNvSpPr/>
          <p:nvPr/>
        </p:nvSpPr>
        <p:spPr>
          <a:xfrm>
            <a:off x="8412480" y="2697480"/>
            <a:ext cx="2834640" cy="914400"/>
          </a:xfrm>
          <a:prstGeom prst="roundRect">
            <a:avLst>
              <a:gd name="adj" fmla="val 6000"/>
            </a:avLst>
          </a:prstGeom>
          <a:solidFill>
            <a:srgbClr val="F7F9F8"/>
          </a:solidFill>
          <a:ln w="12700">
            <a:solidFill>
              <a:srgbClr val="C9D2CD"/>
            </a:solidFill>
            <a:prstDash val="solid"/>
          </a:ln>
        </p:spPr>
      </p:sp>
      <p:sp>
        <p:nvSpPr>
          <p:cNvPr id="13" name="Text 11"/>
          <p:cNvSpPr txBox="1"/>
          <p:nvPr/>
        </p:nvSpPr>
        <p:spPr>
          <a:xfrm>
            <a:off x="8412480" y="2816352"/>
            <a:ext cx="2834640" cy="320040"/>
          </a:xfrm>
          <a:prstGeom prst="rect">
            <a:avLst/>
          </a:prstGeom>
          <a:noFill/>
          <a:ln/>
        </p:spPr>
        <p:txBody>
          <a:bodyPr wrap="square" lIns="0" tIns="0" rIns="0" bIns="0" rtlCol="0" anchor="ctr"/>
          <a:lstStyle/>
          <a:p>
            <a:pPr algn="ctr" indent="0" marL="0">
              <a:buNone/>
            </a:pPr>
            <a:r>
              <a:rPr lang="en-US" sz="1500" b="1" dirty="0">
                <a:solidFill>
                  <a:srgbClr val="111A17"/>
                </a:solidFill>
                <a:latin typeface="Arial" pitchFamily="34" charset="0"/>
                <a:ea typeface="Arial" pitchFamily="34" charset="-122"/>
                <a:cs typeface="Arial" pitchFamily="34" charset="-120"/>
              </a:rPr>
              <a:t>Postgres</a:t>
            </a:r>
            <a:endParaRPr lang="en-US" sz="1500" dirty="0"/>
          </a:p>
        </p:txBody>
      </p:sp>
      <p:sp>
        <p:nvSpPr>
          <p:cNvPr id="14" name="Text 12"/>
          <p:cNvSpPr txBox="1"/>
          <p:nvPr/>
        </p:nvSpPr>
        <p:spPr>
          <a:xfrm>
            <a:off x="8412480" y="3154680"/>
            <a:ext cx="2834640" cy="2286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policies + log</a:t>
            </a:r>
            <a:endParaRPr lang="en-US" sz="900" dirty="0"/>
          </a:p>
        </p:txBody>
      </p:sp>
      <p:sp>
        <p:nvSpPr>
          <p:cNvPr id="15" name="Text 13"/>
          <p:cNvSpPr txBox="1"/>
          <p:nvPr/>
        </p:nvSpPr>
        <p:spPr>
          <a:xfrm>
            <a:off x="731520" y="3886200"/>
            <a:ext cx="5486400" cy="256032"/>
          </a:xfrm>
          <a:prstGeom prst="rect">
            <a:avLst/>
          </a:prstGeom>
          <a:noFill/>
          <a:ln/>
        </p:spPr>
        <p:txBody>
          <a:bodyPr wrap="square" lIns="0" tIns="0" rIns="0" bIns="0" rtlCol="0" anchor="ctr"/>
          <a:lstStyle/>
          <a:p>
            <a:pPr indent="0" marL="0">
              <a:buNone/>
            </a:pPr>
            <a:r>
              <a:rPr lang="en-US" sz="1000" spc="100" kern="0" dirty="0">
                <a:solidFill>
                  <a:srgbClr val="2B45D9"/>
                </a:solidFill>
                <a:latin typeface="Courier New" pitchFamily="34" charset="0"/>
                <a:ea typeface="Courier New" pitchFamily="34" charset="-122"/>
                <a:cs typeface="Courier New" pitchFamily="34" charset="-120"/>
              </a:rPr>
              <a:t>HOT PATH · THOUSANDS PER SECOND</a:t>
            </a:r>
            <a:endParaRPr lang="en-US" sz="1000" dirty="0"/>
          </a:p>
        </p:txBody>
      </p:sp>
      <p:sp>
        <p:nvSpPr>
          <p:cNvPr id="16" name="Shape 14"/>
          <p:cNvSpPr/>
          <p:nvPr/>
        </p:nvSpPr>
        <p:spPr>
          <a:xfrm>
            <a:off x="731520" y="4187952"/>
            <a:ext cx="2377440" cy="868680"/>
          </a:xfrm>
          <a:prstGeom prst="roundRect">
            <a:avLst>
              <a:gd name="adj" fmla="val 6316"/>
            </a:avLst>
          </a:prstGeom>
          <a:solidFill>
            <a:srgbClr val="F7F9F8"/>
          </a:solidFill>
          <a:ln w="12700">
            <a:solidFill>
              <a:srgbClr val="C9D2CD"/>
            </a:solidFill>
            <a:prstDash val="solid"/>
          </a:ln>
        </p:spPr>
      </p:sp>
      <p:sp>
        <p:nvSpPr>
          <p:cNvPr id="17" name="Text 15"/>
          <p:cNvSpPr txBox="1"/>
          <p:nvPr/>
        </p:nvSpPr>
        <p:spPr>
          <a:xfrm>
            <a:off x="731520" y="4306824"/>
            <a:ext cx="2377440" cy="320040"/>
          </a:xfrm>
          <a:prstGeom prst="rect">
            <a:avLst/>
          </a:prstGeom>
          <a:noFill/>
          <a:ln/>
        </p:spPr>
        <p:txBody>
          <a:bodyPr wrap="square" lIns="0" tIns="0" rIns="0" bIns="0" rtlCol="0" anchor="ctr"/>
          <a:lstStyle/>
          <a:p>
            <a:pPr algn="ctr" indent="0" marL="0">
              <a:buNone/>
            </a:pPr>
            <a:r>
              <a:rPr lang="en-US" sz="1500" b="1" dirty="0">
                <a:solidFill>
                  <a:srgbClr val="111A17"/>
                </a:solidFill>
                <a:latin typeface="Arial" pitchFamily="34" charset="0"/>
                <a:ea typeface="Arial" pitchFamily="34" charset="-122"/>
                <a:cs typeface="Arial" pitchFamily="34" charset="-120"/>
              </a:rPr>
              <a:t>Simulator</a:t>
            </a:r>
            <a:endParaRPr lang="en-US" sz="1500" dirty="0"/>
          </a:p>
        </p:txBody>
      </p:sp>
      <p:sp>
        <p:nvSpPr>
          <p:cNvPr id="18" name="Text 16"/>
          <p:cNvSpPr txBox="1"/>
          <p:nvPr/>
        </p:nvSpPr>
        <p:spPr>
          <a:xfrm>
            <a:off x="731520" y="4645152"/>
            <a:ext cx="2377440" cy="2286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fake devices</a:t>
            </a:r>
            <a:endParaRPr lang="en-US" sz="900" dirty="0"/>
          </a:p>
        </p:txBody>
      </p:sp>
      <p:sp>
        <p:nvSpPr>
          <p:cNvPr id="19" name="Shape 17"/>
          <p:cNvSpPr/>
          <p:nvPr/>
        </p:nvSpPr>
        <p:spPr>
          <a:xfrm>
            <a:off x="4261104" y="4041648"/>
            <a:ext cx="2560320" cy="868680"/>
          </a:xfrm>
          <a:prstGeom prst="roundRect">
            <a:avLst>
              <a:gd name="adj" fmla="val 6316"/>
            </a:avLst>
          </a:prstGeom>
          <a:solidFill>
            <a:srgbClr val="F7F9F8"/>
          </a:solidFill>
          <a:ln w="12700">
            <a:solidFill>
              <a:srgbClr val="C9D2CD"/>
            </a:solidFill>
            <a:prstDash val="solid"/>
          </a:ln>
        </p:spPr>
      </p:sp>
      <p:sp>
        <p:nvSpPr>
          <p:cNvPr id="20" name="Shape 18"/>
          <p:cNvSpPr/>
          <p:nvPr/>
        </p:nvSpPr>
        <p:spPr>
          <a:xfrm>
            <a:off x="4187952" y="4114800"/>
            <a:ext cx="2560320" cy="868680"/>
          </a:xfrm>
          <a:prstGeom prst="roundRect">
            <a:avLst>
              <a:gd name="adj" fmla="val 6316"/>
            </a:avLst>
          </a:prstGeom>
          <a:solidFill>
            <a:srgbClr val="F7F9F8"/>
          </a:solidFill>
          <a:ln w="12700">
            <a:solidFill>
              <a:srgbClr val="C9D2CD"/>
            </a:solidFill>
            <a:prstDash val="solid"/>
          </a:ln>
        </p:spPr>
      </p:sp>
      <p:sp>
        <p:nvSpPr>
          <p:cNvPr id="21" name="Shape 19"/>
          <p:cNvSpPr/>
          <p:nvPr/>
        </p:nvSpPr>
        <p:spPr>
          <a:xfrm>
            <a:off x="4114800" y="4187952"/>
            <a:ext cx="2560320" cy="868680"/>
          </a:xfrm>
          <a:prstGeom prst="roundRect">
            <a:avLst>
              <a:gd name="adj" fmla="val 6316"/>
            </a:avLst>
          </a:prstGeom>
          <a:solidFill>
            <a:srgbClr val="DDE3FB"/>
          </a:solidFill>
          <a:ln w="19050">
            <a:solidFill>
              <a:srgbClr val="2B45D9"/>
            </a:solidFill>
            <a:prstDash val="solid"/>
          </a:ln>
        </p:spPr>
      </p:sp>
      <p:sp>
        <p:nvSpPr>
          <p:cNvPr id="22" name="Text 20"/>
          <p:cNvSpPr txBox="1"/>
          <p:nvPr/>
        </p:nvSpPr>
        <p:spPr>
          <a:xfrm>
            <a:off x="4114800" y="4306824"/>
            <a:ext cx="2560320" cy="320040"/>
          </a:xfrm>
          <a:prstGeom prst="rect">
            <a:avLst/>
          </a:prstGeom>
          <a:noFill/>
          <a:ln/>
        </p:spPr>
        <p:txBody>
          <a:bodyPr wrap="square" lIns="0" tIns="0" rIns="0" bIns="0" rtlCol="0" anchor="ctr"/>
          <a:lstStyle/>
          <a:p>
            <a:pPr algn="ctr" indent="0" marL="0">
              <a:buNone/>
            </a:pPr>
            <a:r>
              <a:rPr lang="en-US" sz="1500" b="1" dirty="0">
                <a:solidFill>
                  <a:srgbClr val="111A17"/>
                </a:solidFill>
                <a:latin typeface="Arial" pitchFamily="34" charset="0"/>
                <a:ea typeface="Arial" pitchFamily="34" charset="-122"/>
                <a:cs typeface="Arial" pitchFamily="34" charset="-120"/>
              </a:rPr>
              <a:t>decision-service</a:t>
            </a:r>
            <a:endParaRPr lang="en-US" sz="1500" dirty="0"/>
          </a:p>
        </p:txBody>
      </p:sp>
      <p:sp>
        <p:nvSpPr>
          <p:cNvPr id="23" name="Text 21"/>
          <p:cNvSpPr txBox="1"/>
          <p:nvPr/>
        </p:nvSpPr>
        <p:spPr>
          <a:xfrm>
            <a:off x="4114800" y="4645152"/>
            <a:ext cx="2560320" cy="2286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FastAPI · N pods</a:t>
            </a:r>
            <a:endParaRPr lang="en-US" sz="900" dirty="0"/>
          </a:p>
        </p:txBody>
      </p:sp>
      <p:sp>
        <p:nvSpPr>
          <p:cNvPr id="24" name="Shape 22"/>
          <p:cNvSpPr/>
          <p:nvPr/>
        </p:nvSpPr>
        <p:spPr>
          <a:xfrm>
            <a:off x="3154680" y="4626864"/>
            <a:ext cx="914400" cy="0"/>
          </a:xfrm>
          <a:prstGeom prst="line">
            <a:avLst/>
          </a:prstGeom>
          <a:noFill/>
          <a:ln w="25400">
            <a:solidFill>
              <a:srgbClr val="2B45D9"/>
            </a:solidFill>
            <a:prstDash val="solid"/>
            <a:tailEnd type="triangle"/>
          </a:ln>
        </p:spPr>
      </p:sp>
      <p:sp>
        <p:nvSpPr>
          <p:cNvPr id="25" name="Text 23"/>
          <p:cNvSpPr txBox="1"/>
          <p:nvPr/>
        </p:nvSpPr>
        <p:spPr>
          <a:xfrm>
            <a:off x="3063240" y="4334256"/>
            <a:ext cx="1097280" cy="256032"/>
          </a:xfrm>
          <a:prstGeom prst="rect">
            <a:avLst/>
          </a:prstGeom>
          <a:noFill/>
          <a:ln/>
        </p:spPr>
        <p:txBody>
          <a:bodyPr wrap="square" lIns="0" tIns="0" rIns="0" bIns="0" rtlCol="0" anchor="ctr"/>
          <a:lstStyle/>
          <a:p>
            <a:pPr algn="ctr" indent="0" marL="0">
              <a:buNone/>
            </a:pPr>
            <a:r>
              <a:rPr lang="en-US" sz="900" dirty="0">
                <a:solidFill>
                  <a:srgbClr val="2B45D9"/>
                </a:solidFill>
                <a:latin typeface="Courier New" pitchFamily="34" charset="0"/>
                <a:ea typeface="Courier New" pitchFamily="34" charset="-122"/>
                <a:cs typeface="Courier New" pitchFamily="34" charset="-120"/>
              </a:rPr>
              <a:t>requests</a:t>
            </a:r>
            <a:endParaRPr lang="en-US" sz="900" dirty="0"/>
          </a:p>
        </p:txBody>
      </p:sp>
      <p:sp>
        <p:nvSpPr>
          <p:cNvPr id="26" name="Shape 24"/>
          <p:cNvSpPr/>
          <p:nvPr/>
        </p:nvSpPr>
        <p:spPr>
          <a:xfrm flipV="1">
            <a:off x="6821424" y="3611880"/>
            <a:ext cx="1499616" cy="868680"/>
          </a:xfrm>
          <a:prstGeom prst="line">
            <a:avLst/>
          </a:prstGeom>
          <a:noFill/>
          <a:ln w="19050">
            <a:solidFill>
              <a:srgbClr val="56625D"/>
            </a:solidFill>
            <a:prstDash val="solid"/>
            <a:tailEnd type="triangle"/>
          </a:ln>
        </p:spPr>
      </p:sp>
      <p:sp>
        <p:nvSpPr>
          <p:cNvPr id="27" name="Text 25"/>
          <p:cNvSpPr txBox="1"/>
          <p:nvPr/>
        </p:nvSpPr>
        <p:spPr>
          <a:xfrm>
            <a:off x="8138160" y="4114800"/>
            <a:ext cx="3200400" cy="548640"/>
          </a:xfrm>
          <a:prstGeom prst="rect">
            <a:avLst/>
          </a:prstGeom>
          <a:noFill/>
          <a:ln/>
        </p:spPr>
        <p:txBody>
          <a:bodyPr wrap="square" lIns="0" tIns="0" rIns="0" bIns="0" rtlCol="0" anchor="ctr"/>
          <a:lstStyle/>
          <a:p>
            <a:pPr algn="r" indent="0" marL="0">
              <a:buNone/>
            </a:pPr>
            <a:r>
              <a:rPr lang="en-US" sz="1000" dirty="0">
                <a:solidFill>
                  <a:srgbClr val="56625D"/>
                </a:solidFill>
                <a:latin typeface="Courier New" pitchFamily="34" charset="0"/>
                <a:ea typeface="Courier New" pitchFamily="34" charset="-122"/>
                <a:cs typeface="Courier New" pitchFamily="34" charset="-120"/>
              </a:rPr>
              <a:t>policies in every 3s</a:t>
            </a:r>
            <a:endParaRPr lang="en-US" sz="1000" dirty="0"/>
          </a:p>
          <a:p>
            <a:pPr algn="r" indent="0" marL="0">
              <a:buNone/>
            </a:pPr>
            <a:r>
              <a:rPr lang="en-US" sz="1000" dirty="0">
                <a:solidFill>
                  <a:srgbClr val="56625D"/>
                </a:solidFill>
                <a:latin typeface="Courier New" pitchFamily="34" charset="0"/>
                <a:ea typeface="Courier New" pitchFamily="34" charset="-122"/>
                <a:cs typeface="Courier New" pitchFamily="34" charset="-120"/>
              </a:rPr>
              <a:t>logs out in batches</a:t>
            </a:r>
            <a:endParaRPr lang="en-US" sz="1000" dirty="0"/>
          </a:p>
        </p:txBody>
      </p:sp>
      <p:sp>
        <p:nvSpPr>
          <p:cNvPr id="28" name="Shape 26"/>
          <p:cNvSpPr/>
          <p:nvPr/>
        </p:nvSpPr>
        <p:spPr>
          <a:xfrm>
            <a:off x="731520" y="5870448"/>
            <a:ext cx="3383280" cy="0"/>
          </a:xfrm>
          <a:prstGeom prst="line">
            <a:avLst/>
          </a:prstGeom>
          <a:noFill/>
          <a:ln w="12700">
            <a:solidFill>
              <a:srgbClr val="C9D2CD"/>
            </a:solidFill>
            <a:prstDash val="solid"/>
          </a:ln>
        </p:spPr>
      </p:sp>
      <p:sp>
        <p:nvSpPr>
          <p:cNvPr id="29" name="Text 27"/>
          <p:cNvSpPr txBox="1"/>
          <p:nvPr/>
        </p:nvSpPr>
        <p:spPr>
          <a:xfrm>
            <a:off x="7315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React + TypeScript console</a:t>
            </a:r>
            <a:endParaRPr lang="en-US" sz="1300" dirty="0"/>
          </a:p>
        </p:txBody>
      </p:sp>
      <p:sp>
        <p:nvSpPr>
          <p:cNvPr id="30" name="Shape 28"/>
          <p:cNvSpPr/>
          <p:nvPr/>
        </p:nvSpPr>
        <p:spPr>
          <a:xfrm>
            <a:off x="4389120" y="5870448"/>
            <a:ext cx="3383280" cy="0"/>
          </a:xfrm>
          <a:prstGeom prst="line">
            <a:avLst/>
          </a:prstGeom>
          <a:noFill/>
          <a:ln w="12700">
            <a:solidFill>
              <a:srgbClr val="C9D2CD"/>
            </a:solidFill>
            <a:prstDash val="solid"/>
          </a:ln>
        </p:spPr>
      </p:sp>
      <p:sp>
        <p:nvSpPr>
          <p:cNvPr id="31" name="Text 29"/>
          <p:cNvSpPr txBox="1"/>
          <p:nvPr/>
        </p:nvSpPr>
        <p:spPr>
          <a:xfrm>
            <a:off x="43891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Python + FastAPI services</a:t>
            </a:r>
            <a:endParaRPr lang="en-US" sz="1300" dirty="0"/>
          </a:p>
        </p:txBody>
      </p:sp>
      <p:sp>
        <p:nvSpPr>
          <p:cNvPr id="32" name="Shape 30"/>
          <p:cNvSpPr/>
          <p:nvPr/>
        </p:nvSpPr>
        <p:spPr>
          <a:xfrm>
            <a:off x="8046720" y="5870448"/>
            <a:ext cx="3383280" cy="0"/>
          </a:xfrm>
          <a:prstGeom prst="line">
            <a:avLst/>
          </a:prstGeom>
          <a:noFill/>
          <a:ln w="12700">
            <a:solidFill>
              <a:srgbClr val="C9D2CD"/>
            </a:solidFill>
            <a:prstDash val="solid"/>
          </a:ln>
        </p:spPr>
      </p:sp>
      <p:sp>
        <p:nvSpPr>
          <p:cNvPr id="33" name="Text 31"/>
          <p:cNvSpPr txBox="1"/>
          <p:nvPr/>
        </p:nvSpPr>
        <p:spPr>
          <a:xfrm>
            <a:off x="80467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Two services, different blast radius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1069848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Two services, eight endpoints</a:t>
            </a:r>
            <a:endParaRPr lang="en-US" sz="3200" dirty="0"/>
          </a:p>
        </p:txBody>
      </p:sp>
      <p:sp>
        <p:nvSpPr>
          <p:cNvPr id="3" name="Shape 1"/>
          <p:cNvSpPr/>
          <p:nvPr/>
        </p:nvSpPr>
        <p:spPr>
          <a:xfrm>
            <a:off x="731520" y="1371600"/>
            <a:ext cx="5120640" cy="3931920"/>
          </a:xfrm>
          <a:prstGeom prst="roundRect">
            <a:avLst>
              <a:gd name="adj" fmla="val 2326"/>
            </a:avLst>
          </a:prstGeom>
          <a:solidFill>
            <a:srgbClr val="DDE3FB"/>
          </a:solidFill>
          <a:ln w="19050">
            <a:solidFill>
              <a:srgbClr val="2B45D9"/>
            </a:solidFill>
            <a:prstDash val="solid"/>
          </a:ln>
        </p:spPr>
      </p:sp>
      <p:sp>
        <p:nvSpPr>
          <p:cNvPr id="4" name="Text 2"/>
          <p:cNvSpPr txBox="1"/>
          <p:nvPr/>
        </p:nvSpPr>
        <p:spPr>
          <a:xfrm>
            <a:off x="1097280" y="1600200"/>
            <a:ext cx="4389120" cy="411480"/>
          </a:xfrm>
          <a:prstGeom prst="rect">
            <a:avLst/>
          </a:prstGeom>
          <a:noFill/>
          <a:ln/>
        </p:spPr>
        <p:txBody>
          <a:bodyPr wrap="square" lIns="0" tIns="0" rIns="0" bIns="0" rtlCol="0" anchor="ctr"/>
          <a:lstStyle/>
          <a:p>
            <a:pPr indent="0" marL="0">
              <a:buNone/>
            </a:pPr>
            <a:r>
              <a:rPr lang="en-US" sz="2100" b="1" dirty="0">
                <a:solidFill>
                  <a:srgbClr val="111A17"/>
                </a:solidFill>
                <a:latin typeface="Arial" pitchFamily="34" charset="0"/>
                <a:ea typeface="Arial" pitchFamily="34" charset="-122"/>
                <a:cs typeface="Arial" pitchFamily="34" charset="-120"/>
              </a:rPr>
              <a:t>decision-service</a:t>
            </a:r>
            <a:endParaRPr lang="en-US" sz="2100" dirty="0"/>
          </a:p>
        </p:txBody>
      </p:sp>
      <p:sp>
        <p:nvSpPr>
          <p:cNvPr id="5" name="Text 3"/>
          <p:cNvSpPr txBox="1"/>
          <p:nvPr/>
        </p:nvSpPr>
        <p:spPr>
          <a:xfrm>
            <a:off x="1097280" y="2148840"/>
            <a:ext cx="868680" cy="274320"/>
          </a:xfrm>
          <a:prstGeom prst="rect">
            <a:avLst/>
          </a:prstGeom>
          <a:noFill/>
          <a:ln/>
        </p:spPr>
        <p:txBody>
          <a:bodyPr wrap="square" lIns="0" tIns="0" rIns="0" bIns="0" rtlCol="0" anchor="ctr"/>
          <a:lstStyle/>
          <a:p>
            <a:pPr indent="0" marL="0">
              <a:buNone/>
            </a:pPr>
            <a:r>
              <a:rPr lang="en-US" sz="1000" b="1" dirty="0">
                <a:solidFill>
                  <a:srgbClr val="2B45D9"/>
                </a:solidFill>
                <a:latin typeface="Courier New" pitchFamily="34" charset="0"/>
                <a:ea typeface="Courier New" pitchFamily="34" charset="-122"/>
                <a:cs typeface="Courier New" pitchFamily="34" charset="-120"/>
              </a:rPr>
              <a:t>POST</a:t>
            </a:r>
            <a:endParaRPr lang="en-US" sz="1000" dirty="0"/>
          </a:p>
        </p:txBody>
      </p:sp>
      <p:sp>
        <p:nvSpPr>
          <p:cNvPr id="6" name="Text 4"/>
          <p:cNvSpPr txBox="1"/>
          <p:nvPr/>
        </p:nvSpPr>
        <p:spPr>
          <a:xfrm>
            <a:off x="2011680" y="2148840"/>
            <a:ext cx="3657600" cy="274320"/>
          </a:xfrm>
          <a:prstGeom prst="rect">
            <a:avLst/>
          </a:prstGeom>
          <a:noFill/>
          <a:ln/>
        </p:spPr>
        <p:txBody>
          <a:bodyPr wrap="square" lIns="0" tIns="0" rIns="0" bIns="0" rtlCol="0" anchor="ctr"/>
          <a:lstStyle/>
          <a:p>
            <a:pPr indent="0" marL="0">
              <a:buNone/>
            </a:pPr>
            <a:r>
              <a:rPr lang="en-US" sz="1000" b="1" dirty="0">
                <a:solidFill>
                  <a:srgbClr val="2B45D9"/>
                </a:solidFill>
                <a:latin typeface="Courier New" pitchFamily="34" charset="0"/>
                <a:ea typeface="Courier New" pitchFamily="34" charset="-122"/>
                <a:cs typeface="Courier New" pitchFamily="34" charset="-120"/>
              </a:rPr>
              <a:t>/v1/decide</a:t>
            </a:r>
            <a:endParaRPr lang="en-US" sz="1000" dirty="0"/>
          </a:p>
        </p:txBody>
      </p:sp>
      <p:sp>
        <p:nvSpPr>
          <p:cNvPr id="7" name="Text 5"/>
          <p:cNvSpPr txBox="1"/>
          <p:nvPr/>
        </p:nvSpPr>
        <p:spPr>
          <a:xfrm>
            <a:off x="1097280" y="2478024"/>
            <a:ext cx="86868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GET</a:t>
            </a:r>
            <a:endParaRPr lang="en-US" sz="1000" dirty="0"/>
          </a:p>
        </p:txBody>
      </p:sp>
      <p:sp>
        <p:nvSpPr>
          <p:cNvPr id="8" name="Text 6"/>
          <p:cNvSpPr txBox="1"/>
          <p:nvPr/>
        </p:nvSpPr>
        <p:spPr>
          <a:xfrm>
            <a:off x="2011680" y="2478024"/>
            <a:ext cx="3657600" cy="274320"/>
          </a:xfrm>
          <a:prstGeom prst="rect">
            <a:avLst/>
          </a:prstGeom>
          <a:noFill/>
          <a:ln/>
        </p:spPr>
        <p:txBody>
          <a:bodyPr wrap="square" lIns="0" tIns="0" rIns="0" bIns="0" rtlCol="0" anchor="ctr"/>
          <a:lstStyle/>
          <a:p>
            <a:pPr indent="0" marL="0">
              <a:buNone/>
            </a:pPr>
            <a:r>
              <a:rPr lang="en-US" sz="1000" dirty="0">
                <a:solidFill>
                  <a:srgbClr val="111A17"/>
                </a:solidFill>
                <a:latin typeface="Courier New" pitchFamily="34" charset="0"/>
                <a:ea typeface="Courier New" pitchFamily="34" charset="-122"/>
                <a:cs typeface="Courier New" pitchFamily="34" charset="-120"/>
              </a:rPr>
              <a:t>/healthz — am I alive?</a:t>
            </a:r>
            <a:endParaRPr lang="en-US" sz="1000" dirty="0"/>
          </a:p>
        </p:txBody>
      </p:sp>
      <p:sp>
        <p:nvSpPr>
          <p:cNvPr id="9" name="Text 7"/>
          <p:cNvSpPr txBox="1"/>
          <p:nvPr/>
        </p:nvSpPr>
        <p:spPr>
          <a:xfrm>
            <a:off x="1097280" y="2807208"/>
            <a:ext cx="86868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GET</a:t>
            </a:r>
            <a:endParaRPr lang="en-US" sz="1000" dirty="0"/>
          </a:p>
        </p:txBody>
      </p:sp>
      <p:sp>
        <p:nvSpPr>
          <p:cNvPr id="10" name="Text 8"/>
          <p:cNvSpPr txBox="1"/>
          <p:nvPr/>
        </p:nvSpPr>
        <p:spPr>
          <a:xfrm>
            <a:off x="2011680" y="2807208"/>
            <a:ext cx="3657600" cy="274320"/>
          </a:xfrm>
          <a:prstGeom prst="rect">
            <a:avLst/>
          </a:prstGeom>
          <a:noFill/>
          <a:ln/>
        </p:spPr>
        <p:txBody>
          <a:bodyPr wrap="square" lIns="0" tIns="0" rIns="0" bIns="0" rtlCol="0" anchor="ctr"/>
          <a:lstStyle/>
          <a:p>
            <a:pPr indent="0" marL="0">
              <a:buNone/>
            </a:pPr>
            <a:r>
              <a:rPr lang="en-US" sz="1000" dirty="0">
                <a:solidFill>
                  <a:srgbClr val="111A17"/>
                </a:solidFill>
                <a:latin typeface="Courier New" pitchFamily="34" charset="0"/>
                <a:ea typeface="Courier New" pitchFamily="34" charset="-122"/>
                <a:cs typeface="Courier New" pitchFamily="34" charset="-120"/>
              </a:rPr>
              <a:t>/readyz — should I get traffic?</a:t>
            </a:r>
            <a:endParaRPr lang="en-US" sz="1000" dirty="0"/>
          </a:p>
        </p:txBody>
      </p:sp>
      <p:sp>
        <p:nvSpPr>
          <p:cNvPr id="11" name="Text 9"/>
          <p:cNvSpPr txBox="1"/>
          <p:nvPr/>
        </p:nvSpPr>
        <p:spPr>
          <a:xfrm>
            <a:off x="1097280" y="4754880"/>
            <a:ext cx="4389120" cy="411480"/>
          </a:xfrm>
          <a:prstGeom prst="rect">
            <a:avLst/>
          </a:prstGeom>
          <a:noFill/>
          <a:ln/>
        </p:spPr>
        <p:txBody>
          <a:bodyPr wrap="square" lIns="0" tIns="0" rIns="0" bIns="0" rtlCol="0" anchor="ctr"/>
          <a:lstStyle/>
          <a:p>
            <a:pPr indent="0" marL="0">
              <a:buNone/>
            </a:pPr>
            <a:r>
              <a:rPr lang="en-US" sz="1200" dirty="0">
                <a:solidFill>
                  <a:srgbClr val="56625D"/>
                </a:solidFill>
                <a:latin typeface="Calibri" pitchFamily="34" charset="0"/>
                <a:ea typeface="Calibri" pitchFamily="34" charset="-122"/>
                <a:cs typeface="Calibri" pitchFamily="34" charset="-120"/>
              </a:rPr>
              <a:t>One endpoint carries all the load.</a:t>
            </a:r>
            <a:endParaRPr lang="en-US" sz="1200" dirty="0"/>
          </a:p>
        </p:txBody>
      </p:sp>
      <p:sp>
        <p:nvSpPr>
          <p:cNvPr id="12" name="Shape 10"/>
          <p:cNvSpPr/>
          <p:nvPr/>
        </p:nvSpPr>
        <p:spPr>
          <a:xfrm>
            <a:off x="6309360" y="1371600"/>
            <a:ext cx="5120640" cy="3931920"/>
          </a:xfrm>
          <a:prstGeom prst="roundRect">
            <a:avLst>
              <a:gd name="adj" fmla="val 2326"/>
            </a:avLst>
          </a:prstGeom>
          <a:solidFill>
            <a:srgbClr val="E9EDEA"/>
          </a:solidFill>
          <a:ln w="12700">
            <a:solidFill>
              <a:srgbClr val="C9D2CD"/>
            </a:solidFill>
            <a:prstDash val="solid"/>
          </a:ln>
        </p:spPr>
      </p:sp>
      <p:sp>
        <p:nvSpPr>
          <p:cNvPr id="13" name="Text 11"/>
          <p:cNvSpPr txBox="1"/>
          <p:nvPr/>
        </p:nvSpPr>
        <p:spPr>
          <a:xfrm>
            <a:off x="6675120" y="1600200"/>
            <a:ext cx="4389120" cy="411480"/>
          </a:xfrm>
          <a:prstGeom prst="rect">
            <a:avLst/>
          </a:prstGeom>
          <a:noFill/>
          <a:ln/>
        </p:spPr>
        <p:txBody>
          <a:bodyPr wrap="square" lIns="0" tIns="0" rIns="0" bIns="0" rtlCol="0" anchor="ctr"/>
          <a:lstStyle/>
          <a:p>
            <a:pPr indent="0" marL="0">
              <a:buNone/>
            </a:pPr>
            <a:r>
              <a:rPr lang="en-US" sz="2100" b="1" dirty="0">
                <a:solidFill>
                  <a:srgbClr val="111A17"/>
                </a:solidFill>
                <a:latin typeface="Arial" pitchFamily="34" charset="0"/>
                <a:ea typeface="Arial" pitchFamily="34" charset="-122"/>
                <a:cs typeface="Arial" pitchFamily="34" charset="-120"/>
              </a:rPr>
              <a:t>policy-api</a:t>
            </a:r>
            <a:endParaRPr lang="en-US" sz="2100" dirty="0"/>
          </a:p>
        </p:txBody>
      </p:sp>
      <p:sp>
        <p:nvSpPr>
          <p:cNvPr id="14" name="Text 12"/>
          <p:cNvSpPr txBox="1"/>
          <p:nvPr/>
        </p:nvSpPr>
        <p:spPr>
          <a:xfrm>
            <a:off x="6675120" y="2148840"/>
            <a:ext cx="86868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GET</a:t>
            </a:r>
            <a:endParaRPr lang="en-US" sz="1000" dirty="0"/>
          </a:p>
        </p:txBody>
      </p:sp>
      <p:sp>
        <p:nvSpPr>
          <p:cNvPr id="15" name="Text 13"/>
          <p:cNvSpPr txBox="1"/>
          <p:nvPr/>
        </p:nvSpPr>
        <p:spPr>
          <a:xfrm>
            <a:off x="7589520" y="2148840"/>
            <a:ext cx="3657600" cy="274320"/>
          </a:xfrm>
          <a:prstGeom prst="rect">
            <a:avLst/>
          </a:prstGeom>
          <a:noFill/>
          <a:ln/>
        </p:spPr>
        <p:txBody>
          <a:bodyPr wrap="square" lIns="0" tIns="0" rIns="0" bIns="0" rtlCol="0" anchor="ctr"/>
          <a:lstStyle/>
          <a:p>
            <a:pPr indent="0" marL="0">
              <a:buNone/>
            </a:pPr>
            <a:r>
              <a:rPr lang="en-US" sz="1000" dirty="0">
                <a:solidFill>
                  <a:srgbClr val="111A17"/>
                </a:solidFill>
                <a:latin typeface="Courier New" pitchFamily="34" charset="0"/>
                <a:ea typeface="Courier New" pitchFamily="34" charset="-122"/>
                <a:cs typeface="Courier New" pitchFamily="34" charset="-120"/>
              </a:rPr>
              <a:t>/v1/policies</a:t>
            </a:r>
            <a:endParaRPr lang="en-US" sz="1000" dirty="0"/>
          </a:p>
        </p:txBody>
      </p:sp>
      <p:sp>
        <p:nvSpPr>
          <p:cNvPr id="16" name="Text 14"/>
          <p:cNvSpPr txBox="1"/>
          <p:nvPr/>
        </p:nvSpPr>
        <p:spPr>
          <a:xfrm>
            <a:off x="6675120" y="2478024"/>
            <a:ext cx="86868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POST</a:t>
            </a:r>
            <a:endParaRPr lang="en-US" sz="1000" dirty="0"/>
          </a:p>
        </p:txBody>
      </p:sp>
      <p:sp>
        <p:nvSpPr>
          <p:cNvPr id="17" name="Text 15"/>
          <p:cNvSpPr txBox="1"/>
          <p:nvPr/>
        </p:nvSpPr>
        <p:spPr>
          <a:xfrm>
            <a:off x="7589520" y="2478024"/>
            <a:ext cx="3657600" cy="274320"/>
          </a:xfrm>
          <a:prstGeom prst="rect">
            <a:avLst/>
          </a:prstGeom>
          <a:noFill/>
          <a:ln/>
        </p:spPr>
        <p:txBody>
          <a:bodyPr wrap="square" lIns="0" tIns="0" rIns="0" bIns="0" rtlCol="0" anchor="ctr"/>
          <a:lstStyle/>
          <a:p>
            <a:pPr indent="0" marL="0">
              <a:buNone/>
            </a:pPr>
            <a:r>
              <a:rPr lang="en-US" sz="1000" dirty="0">
                <a:solidFill>
                  <a:srgbClr val="111A17"/>
                </a:solidFill>
                <a:latin typeface="Courier New" pitchFamily="34" charset="0"/>
                <a:ea typeface="Courier New" pitchFamily="34" charset="-122"/>
                <a:cs typeface="Courier New" pitchFamily="34" charset="-120"/>
              </a:rPr>
              <a:t>/v1/policies</a:t>
            </a:r>
            <a:endParaRPr lang="en-US" sz="1000" dirty="0"/>
          </a:p>
        </p:txBody>
      </p:sp>
      <p:sp>
        <p:nvSpPr>
          <p:cNvPr id="18" name="Text 16"/>
          <p:cNvSpPr txBox="1"/>
          <p:nvPr/>
        </p:nvSpPr>
        <p:spPr>
          <a:xfrm>
            <a:off x="6675120" y="2807208"/>
            <a:ext cx="86868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PATCH</a:t>
            </a:r>
            <a:endParaRPr lang="en-US" sz="1000" dirty="0"/>
          </a:p>
        </p:txBody>
      </p:sp>
      <p:sp>
        <p:nvSpPr>
          <p:cNvPr id="19" name="Text 17"/>
          <p:cNvSpPr txBox="1"/>
          <p:nvPr/>
        </p:nvSpPr>
        <p:spPr>
          <a:xfrm>
            <a:off x="7589520" y="2807208"/>
            <a:ext cx="3657600" cy="274320"/>
          </a:xfrm>
          <a:prstGeom prst="rect">
            <a:avLst/>
          </a:prstGeom>
          <a:noFill/>
          <a:ln/>
        </p:spPr>
        <p:txBody>
          <a:bodyPr wrap="square" lIns="0" tIns="0" rIns="0" bIns="0" rtlCol="0" anchor="ctr"/>
          <a:lstStyle/>
          <a:p>
            <a:pPr indent="0" marL="0">
              <a:buNone/>
            </a:pPr>
            <a:r>
              <a:rPr lang="en-US" sz="1000" dirty="0">
                <a:solidFill>
                  <a:srgbClr val="111A17"/>
                </a:solidFill>
                <a:latin typeface="Courier New" pitchFamily="34" charset="0"/>
                <a:ea typeface="Courier New" pitchFamily="34" charset="-122"/>
                <a:cs typeface="Courier New" pitchFamily="34" charset="-120"/>
              </a:rPr>
              <a:t>/v1/policies/{id}</a:t>
            </a:r>
            <a:endParaRPr lang="en-US" sz="1000" dirty="0"/>
          </a:p>
        </p:txBody>
      </p:sp>
      <p:sp>
        <p:nvSpPr>
          <p:cNvPr id="20" name="Text 18"/>
          <p:cNvSpPr txBox="1"/>
          <p:nvPr/>
        </p:nvSpPr>
        <p:spPr>
          <a:xfrm>
            <a:off x="6675120" y="3136392"/>
            <a:ext cx="86868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DELETE</a:t>
            </a:r>
            <a:endParaRPr lang="en-US" sz="1000" dirty="0"/>
          </a:p>
        </p:txBody>
      </p:sp>
      <p:sp>
        <p:nvSpPr>
          <p:cNvPr id="21" name="Text 19"/>
          <p:cNvSpPr txBox="1"/>
          <p:nvPr/>
        </p:nvSpPr>
        <p:spPr>
          <a:xfrm>
            <a:off x="7589520" y="3136392"/>
            <a:ext cx="3657600" cy="274320"/>
          </a:xfrm>
          <a:prstGeom prst="rect">
            <a:avLst/>
          </a:prstGeom>
          <a:noFill/>
          <a:ln/>
        </p:spPr>
        <p:txBody>
          <a:bodyPr wrap="square" lIns="0" tIns="0" rIns="0" bIns="0" rtlCol="0" anchor="ctr"/>
          <a:lstStyle/>
          <a:p>
            <a:pPr indent="0" marL="0">
              <a:buNone/>
            </a:pPr>
            <a:r>
              <a:rPr lang="en-US" sz="1000" dirty="0">
                <a:solidFill>
                  <a:srgbClr val="111A17"/>
                </a:solidFill>
                <a:latin typeface="Courier New" pitchFamily="34" charset="0"/>
                <a:ea typeface="Courier New" pitchFamily="34" charset="-122"/>
                <a:cs typeface="Courier New" pitchFamily="34" charset="-120"/>
              </a:rPr>
              <a:t>/v1/policies/{id}</a:t>
            </a:r>
            <a:endParaRPr lang="en-US" sz="1000" dirty="0"/>
          </a:p>
        </p:txBody>
      </p:sp>
      <p:sp>
        <p:nvSpPr>
          <p:cNvPr id="22" name="Text 20"/>
          <p:cNvSpPr txBox="1"/>
          <p:nvPr/>
        </p:nvSpPr>
        <p:spPr>
          <a:xfrm>
            <a:off x="6675120" y="3465576"/>
            <a:ext cx="86868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POST</a:t>
            </a:r>
            <a:endParaRPr lang="en-US" sz="1000" dirty="0"/>
          </a:p>
        </p:txBody>
      </p:sp>
      <p:sp>
        <p:nvSpPr>
          <p:cNvPr id="23" name="Text 21"/>
          <p:cNvSpPr txBox="1"/>
          <p:nvPr/>
        </p:nvSpPr>
        <p:spPr>
          <a:xfrm>
            <a:off x="7589520" y="3465576"/>
            <a:ext cx="3657600" cy="274320"/>
          </a:xfrm>
          <a:prstGeom prst="rect">
            <a:avLst/>
          </a:prstGeom>
          <a:noFill/>
          <a:ln/>
        </p:spPr>
        <p:txBody>
          <a:bodyPr wrap="square" lIns="0" tIns="0" rIns="0" bIns="0" rtlCol="0" anchor="ctr"/>
          <a:lstStyle/>
          <a:p>
            <a:pPr indent="0" marL="0">
              <a:buNone/>
            </a:pPr>
            <a:r>
              <a:rPr lang="en-US" sz="1000" dirty="0">
                <a:solidFill>
                  <a:srgbClr val="111A17"/>
                </a:solidFill>
                <a:latin typeface="Courier New" pitchFamily="34" charset="0"/>
                <a:ea typeface="Courier New" pitchFamily="34" charset="-122"/>
                <a:cs typeface="Courier New" pitchFamily="34" charset="-120"/>
              </a:rPr>
              <a:t>/v1/policies/draft — Claude drafts</a:t>
            </a:r>
            <a:endParaRPr lang="en-US" sz="1000" dirty="0"/>
          </a:p>
        </p:txBody>
      </p:sp>
      <p:sp>
        <p:nvSpPr>
          <p:cNvPr id="24" name="Text 22"/>
          <p:cNvSpPr txBox="1"/>
          <p:nvPr/>
        </p:nvSpPr>
        <p:spPr>
          <a:xfrm>
            <a:off x="6675120" y="3794760"/>
            <a:ext cx="86868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GET</a:t>
            </a:r>
            <a:endParaRPr lang="en-US" sz="1000" dirty="0"/>
          </a:p>
        </p:txBody>
      </p:sp>
      <p:sp>
        <p:nvSpPr>
          <p:cNvPr id="25" name="Text 23"/>
          <p:cNvSpPr txBox="1"/>
          <p:nvPr/>
        </p:nvSpPr>
        <p:spPr>
          <a:xfrm>
            <a:off x="7589520" y="3794760"/>
            <a:ext cx="3657600" cy="274320"/>
          </a:xfrm>
          <a:prstGeom prst="rect">
            <a:avLst/>
          </a:prstGeom>
          <a:noFill/>
          <a:ln/>
        </p:spPr>
        <p:txBody>
          <a:bodyPr wrap="square" lIns="0" tIns="0" rIns="0" bIns="0" rtlCol="0" anchor="ctr"/>
          <a:lstStyle/>
          <a:p>
            <a:pPr indent="0" marL="0">
              <a:buNone/>
            </a:pPr>
            <a:r>
              <a:rPr lang="en-US" sz="1000" dirty="0">
                <a:solidFill>
                  <a:srgbClr val="111A17"/>
                </a:solidFill>
                <a:latin typeface="Courier New" pitchFamily="34" charset="0"/>
                <a:ea typeface="Courier New" pitchFamily="34" charset="-122"/>
                <a:cs typeface="Courier New" pitchFamily="34" charset="-120"/>
              </a:rPr>
              <a:t>/v1/decisions</a:t>
            </a:r>
            <a:endParaRPr lang="en-US" sz="1000" dirty="0"/>
          </a:p>
        </p:txBody>
      </p:sp>
      <p:sp>
        <p:nvSpPr>
          <p:cNvPr id="26" name="Text 24"/>
          <p:cNvSpPr txBox="1"/>
          <p:nvPr/>
        </p:nvSpPr>
        <p:spPr>
          <a:xfrm>
            <a:off x="6675120" y="4123944"/>
            <a:ext cx="86868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GET</a:t>
            </a:r>
            <a:endParaRPr lang="en-US" sz="1000" dirty="0"/>
          </a:p>
        </p:txBody>
      </p:sp>
      <p:sp>
        <p:nvSpPr>
          <p:cNvPr id="27" name="Text 25"/>
          <p:cNvSpPr txBox="1"/>
          <p:nvPr/>
        </p:nvSpPr>
        <p:spPr>
          <a:xfrm>
            <a:off x="7589520" y="4123944"/>
            <a:ext cx="3657600" cy="274320"/>
          </a:xfrm>
          <a:prstGeom prst="rect">
            <a:avLst/>
          </a:prstGeom>
          <a:noFill/>
          <a:ln/>
        </p:spPr>
        <p:txBody>
          <a:bodyPr wrap="square" lIns="0" tIns="0" rIns="0" bIns="0" rtlCol="0" anchor="ctr"/>
          <a:lstStyle/>
          <a:p>
            <a:pPr indent="0" marL="0">
              <a:buNone/>
            </a:pPr>
            <a:r>
              <a:rPr lang="en-US" sz="1000" dirty="0">
                <a:solidFill>
                  <a:srgbClr val="111A17"/>
                </a:solidFill>
                <a:latin typeface="Courier New" pitchFamily="34" charset="0"/>
                <a:ea typeface="Courier New" pitchFamily="34" charset="-122"/>
                <a:cs typeface="Courier New" pitchFamily="34" charset="-120"/>
              </a:rPr>
              <a:t>/v1/stats</a:t>
            </a:r>
            <a:endParaRPr lang="en-US" sz="1000" dirty="0"/>
          </a:p>
        </p:txBody>
      </p:sp>
      <p:sp>
        <p:nvSpPr>
          <p:cNvPr id="28" name="Text 26"/>
          <p:cNvSpPr txBox="1"/>
          <p:nvPr/>
        </p:nvSpPr>
        <p:spPr>
          <a:xfrm>
            <a:off x="6675120" y="4754880"/>
            <a:ext cx="4389120" cy="411480"/>
          </a:xfrm>
          <a:prstGeom prst="rect">
            <a:avLst/>
          </a:prstGeom>
          <a:noFill/>
          <a:ln/>
        </p:spPr>
        <p:txBody>
          <a:bodyPr wrap="square" lIns="0" tIns="0" rIns="0" bIns="0" rtlCol="0" anchor="ctr"/>
          <a:lstStyle/>
          <a:p>
            <a:pPr indent="0" marL="0">
              <a:buNone/>
            </a:pPr>
            <a:r>
              <a:rPr lang="en-US" sz="1200" dirty="0">
                <a:solidFill>
                  <a:srgbClr val="56625D"/>
                </a:solidFill>
                <a:latin typeface="Calibri" pitchFamily="34" charset="0"/>
                <a:ea typeface="Calibri" pitchFamily="34" charset="-122"/>
                <a:cs typeface="Calibri" pitchFamily="34" charset="-120"/>
              </a:rPr>
              <a:t>Everything else is admin work for a handful of people.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1069848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What one request actually touches</a:t>
            </a:r>
            <a:endParaRPr lang="en-US" sz="3200" dirty="0"/>
          </a:p>
        </p:txBody>
      </p:sp>
      <p:sp>
        <p:nvSpPr>
          <p:cNvPr id="3" name="Text 1"/>
          <p:cNvSpPr txBox="1"/>
          <p:nvPr/>
        </p:nvSpPr>
        <p:spPr>
          <a:xfrm>
            <a:off x="731520" y="1234440"/>
            <a:ext cx="1828800" cy="256032"/>
          </a:xfrm>
          <a:prstGeom prst="rect">
            <a:avLst/>
          </a:prstGeom>
          <a:noFill/>
          <a:ln/>
        </p:spPr>
        <p:txBody>
          <a:bodyPr wrap="square" lIns="0" tIns="0" rIns="0" bIns="0" rtlCol="0" anchor="ctr"/>
          <a:lstStyle/>
          <a:p>
            <a:pPr indent="0" marL="0">
              <a:buNone/>
            </a:pPr>
            <a:r>
              <a:rPr lang="en-US" sz="1000" spc="100" kern="0" dirty="0">
                <a:solidFill>
                  <a:srgbClr val="2B45D9"/>
                </a:solidFill>
                <a:latin typeface="Courier New" pitchFamily="34" charset="0"/>
                <a:ea typeface="Courier New" pitchFamily="34" charset="-122"/>
                <a:cs typeface="Courier New" pitchFamily="34" charset="-120"/>
              </a:rPr>
              <a:t>HOT PATH</a:t>
            </a:r>
            <a:endParaRPr lang="en-US" sz="1000" dirty="0"/>
          </a:p>
        </p:txBody>
      </p:sp>
      <p:sp>
        <p:nvSpPr>
          <p:cNvPr id="4" name="Text 2"/>
          <p:cNvSpPr txBox="1"/>
          <p:nvPr/>
        </p:nvSpPr>
        <p:spPr>
          <a:xfrm>
            <a:off x="4023360" y="1188720"/>
            <a:ext cx="3108960" cy="292608"/>
          </a:xfrm>
          <a:prstGeom prst="rect">
            <a:avLst/>
          </a:prstGeom>
          <a:noFill/>
          <a:ln/>
        </p:spPr>
        <p:txBody>
          <a:bodyPr wrap="square" lIns="0" tIns="0" rIns="0" bIns="0" rtlCol="0" anchor="ctr"/>
          <a:lstStyle/>
          <a:p>
            <a:pPr algn="ctr" indent="0" marL="0">
              <a:buNone/>
            </a:pPr>
            <a:r>
              <a:rPr lang="en-US" sz="1100" dirty="0">
                <a:solidFill>
                  <a:srgbClr val="2B45D9"/>
                </a:solidFill>
                <a:latin typeface="Courier New" pitchFamily="34" charset="0"/>
                <a:ea typeface="Courier New" pitchFamily="34" charset="-122"/>
                <a:cs typeface="Courier New" pitchFamily="34" charset="-120"/>
              </a:rPr>
              <a:t>POST /v1/decide</a:t>
            </a:r>
            <a:endParaRPr lang="en-US" sz="1100" dirty="0"/>
          </a:p>
        </p:txBody>
      </p:sp>
      <p:sp>
        <p:nvSpPr>
          <p:cNvPr id="5" name="Shape 3"/>
          <p:cNvSpPr/>
          <p:nvPr/>
        </p:nvSpPr>
        <p:spPr>
          <a:xfrm>
            <a:off x="731520" y="1600200"/>
            <a:ext cx="2377440" cy="868680"/>
          </a:xfrm>
          <a:prstGeom prst="roundRect">
            <a:avLst>
              <a:gd name="adj" fmla="val 6316"/>
            </a:avLst>
          </a:prstGeom>
          <a:solidFill>
            <a:srgbClr val="F7F9F8"/>
          </a:solidFill>
          <a:ln w="12700">
            <a:solidFill>
              <a:srgbClr val="C9D2CD"/>
            </a:solidFill>
            <a:prstDash val="solid"/>
          </a:ln>
        </p:spPr>
      </p:sp>
      <p:sp>
        <p:nvSpPr>
          <p:cNvPr id="6" name="Text 4"/>
          <p:cNvSpPr txBox="1"/>
          <p:nvPr/>
        </p:nvSpPr>
        <p:spPr>
          <a:xfrm>
            <a:off x="731520" y="1719072"/>
            <a:ext cx="2377440" cy="320040"/>
          </a:xfrm>
          <a:prstGeom prst="rect">
            <a:avLst/>
          </a:prstGeom>
          <a:noFill/>
          <a:ln/>
        </p:spPr>
        <p:txBody>
          <a:bodyPr wrap="square" lIns="0" tIns="0" rIns="0" bIns="0" rtlCol="0" anchor="ctr"/>
          <a:lstStyle/>
          <a:p>
            <a:pPr algn="ctr" indent="0" marL="0">
              <a:buNone/>
            </a:pPr>
            <a:r>
              <a:rPr lang="en-US" sz="1500" b="1" dirty="0">
                <a:solidFill>
                  <a:srgbClr val="111A17"/>
                </a:solidFill>
                <a:latin typeface="Arial" pitchFamily="34" charset="0"/>
                <a:ea typeface="Arial" pitchFamily="34" charset="-122"/>
                <a:cs typeface="Arial" pitchFamily="34" charset="-120"/>
              </a:rPr>
              <a:t>device</a:t>
            </a:r>
            <a:endParaRPr lang="en-US" sz="1500" dirty="0"/>
          </a:p>
        </p:txBody>
      </p:sp>
      <p:sp>
        <p:nvSpPr>
          <p:cNvPr id="7" name="Text 5"/>
          <p:cNvSpPr txBox="1"/>
          <p:nvPr/>
        </p:nvSpPr>
        <p:spPr>
          <a:xfrm>
            <a:off x="731520" y="2057400"/>
            <a:ext cx="2377440" cy="2286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asks</a:t>
            </a:r>
            <a:endParaRPr lang="en-US" sz="900" dirty="0"/>
          </a:p>
        </p:txBody>
      </p:sp>
      <p:sp>
        <p:nvSpPr>
          <p:cNvPr id="8" name="Shape 6"/>
          <p:cNvSpPr/>
          <p:nvPr/>
        </p:nvSpPr>
        <p:spPr>
          <a:xfrm>
            <a:off x="3200400" y="2029968"/>
            <a:ext cx="685800" cy="0"/>
          </a:xfrm>
          <a:prstGeom prst="line">
            <a:avLst/>
          </a:prstGeom>
          <a:noFill/>
          <a:ln w="31750">
            <a:solidFill>
              <a:srgbClr val="2B45D9"/>
            </a:solidFill>
            <a:prstDash val="solid"/>
            <a:tailEnd type="triangle"/>
          </a:ln>
        </p:spPr>
      </p:sp>
      <p:sp>
        <p:nvSpPr>
          <p:cNvPr id="9" name="Shape 7"/>
          <p:cNvSpPr/>
          <p:nvPr/>
        </p:nvSpPr>
        <p:spPr>
          <a:xfrm>
            <a:off x="3977640" y="1572768"/>
            <a:ext cx="3200400" cy="914400"/>
          </a:xfrm>
          <a:prstGeom prst="roundRect">
            <a:avLst>
              <a:gd name="adj" fmla="val 6000"/>
            </a:avLst>
          </a:prstGeom>
          <a:solidFill>
            <a:srgbClr val="DDE3FB"/>
          </a:solidFill>
          <a:ln w="19050">
            <a:solidFill>
              <a:srgbClr val="2B45D9"/>
            </a:solidFill>
            <a:prstDash val="solid"/>
          </a:ln>
        </p:spPr>
      </p:sp>
      <p:sp>
        <p:nvSpPr>
          <p:cNvPr id="10" name="Text 8"/>
          <p:cNvSpPr txBox="1"/>
          <p:nvPr/>
        </p:nvSpPr>
        <p:spPr>
          <a:xfrm>
            <a:off x="3977640" y="1691640"/>
            <a:ext cx="3200400" cy="320040"/>
          </a:xfrm>
          <a:prstGeom prst="rect">
            <a:avLst/>
          </a:prstGeom>
          <a:noFill/>
          <a:ln/>
        </p:spPr>
        <p:txBody>
          <a:bodyPr wrap="square" lIns="0" tIns="0" rIns="0" bIns="0" rtlCol="0" anchor="ctr"/>
          <a:lstStyle/>
          <a:p>
            <a:pPr algn="ctr" indent="0" marL="0">
              <a:buNone/>
            </a:pPr>
            <a:r>
              <a:rPr lang="en-US" sz="1500" b="1" dirty="0">
                <a:solidFill>
                  <a:srgbClr val="111A17"/>
                </a:solidFill>
                <a:latin typeface="Arial" pitchFamily="34" charset="0"/>
                <a:ea typeface="Arial" pitchFamily="34" charset="-122"/>
                <a:cs typeface="Arial" pitchFamily="34" charset="-120"/>
              </a:rPr>
              <a:t>evaluate the rules</a:t>
            </a:r>
            <a:endParaRPr lang="en-US" sz="1500" dirty="0"/>
          </a:p>
        </p:txBody>
      </p:sp>
      <p:sp>
        <p:nvSpPr>
          <p:cNvPr id="11" name="Text 9"/>
          <p:cNvSpPr txBox="1"/>
          <p:nvPr/>
        </p:nvSpPr>
        <p:spPr>
          <a:xfrm>
            <a:off x="3977640" y="2029968"/>
            <a:ext cx="3200400" cy="2286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in memory</a:t>
            </a:r>
            <a:endParaRPr lang="en-US" sz="900" dirty="0"/>
          </a:p>
        </p:txBody>
      </p:sp>
      <p:sp>
        <p:nvSpPr>
          <p:cNvPr id="12" name="Shape 10"/>
          <p:cNvSpPr/>
          <p:nvPr/>
        </p:nvSpPr>
        <p:spPr>
          <a:xfrm>
            <a:off x="7269480" y="2029968"/>
            <a:ext cx="685800" cy="0"/>
          </a:xfrm>
          <a:prstGeom prst="line">
            <a:avLst/>
          </a:prstGeom>
          <a:noFill/>
          <a:ln w="31750">
            <a:solidFill>
              <a:srgbClr val="2B45D9"/>
            </a:solidFill>
            <a:prstDash val="solid"/>
            <a:tailEnd type="triangle"/>
          </a:ln>
        </p:spPr>
      </p:sp>
      <p:sp>
        <p:nvSpPr>
          <p:cNvPr id="13" name="Shape 11"/>
          <p:cNvSpPr/>
          <p:nvPr/>
        </p:nvSpPr>
        <p:spPr>
          <a:xfrm>
            <a:off x="8046720" y="1600200"/>
            <a:ext cx="3383280" cy="868680"/>
          </a:xfrm>
          <a:prstGeom prst="roundRect">
            <a:avLst>
              <a:gd name="adj" fmla="val 6316"/>
            </a:avLst>
          </a:prstGeom>
          <a:solidFill>
            <a:srgbClr val="F7F9F8"/>
          </a:solidFill>
          <a:ln w="12700">
            <a:solidFill>
              <a:srgbClr val="C9D2CD"/>
            </a:solidFill>
            <a:prstDash val="solid"/>
          </a:ln>
        </p:spPr>
      </p:sp>
      <p:sp>
        <p:nvSpPr>
          <p:cNvPr id="14" name="Text 12"/>
          <p:cNvSpPr txBox="1"/>
          <p:nvPr/>
        </p:nvSpPr>
        <p:spPr>
          <a:xfrm>
            <a:off x="8046720" y="1719072"/>
            <a:ext cx="3383280" cy="320040"/>
          </a:xfrm>
          <a:prstGeom prst="rect">
            <a:avLst/>
          </a:prstGeom>
          <a:noFill/>
          <a:ln/>
        </p:spPr>
        <p:txBody>
          <a:bodyPr wrap="square" lIns="0" tIns="0" rIns="0" bIns="0" rtlCol="0" anchor="ctr"/>
          <a:lstStyle/>
          <a:p>
            <a:pPr algn="ctr" indent="0" marL="0">
              <a:buNone/>
            </a:pPr>
            <a:r>
              <a:rPr lang="en-US" sz="1500" b="1" dirty="0">
                <a:solidFill>
                  <a:srgbClr val="111A17"/>
                </a:solidFill>
                <a:latin typeface="Arial" pitchFamily="34" charset="0"/>
                <a:ea typeface="Arial" pitchFamily="34" charset="-122"/>
                <a:cs typeface="Arial" pitchFamily="34" charset="-120"/>
              </a:rPr>
              <a:t>allow · deny · quarantine</a:t>
            </a:r>
            <a:endParaRPr lang="en-US" sz="1500" dirty="0"/>
          </a:p>
        </p:txBody>
      </p:sp>
      <p:sp>
        <p:nvSpPr>
          <p:cNvPr id="15" name="Text 13"/>
          <p:cNvSpPr txBox="1"/>
          <p:nvPr/>
        </p:nvSpPr>
        <p:spPr>
          <a:xfrm>
            <a:off x="8046720" y="2057400"/>
            <a:ext cx="3383280" cy="2286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and the reason</a:t>
            </a:r>
            <a:endParaRPr lang="en-US" sz="900" dirty="0"/>
          </a:p>
        </p:txBody>
      </p:sp>
      <p:sp>
        <p:nvSpPr>
          <p:cNvPr id="16" name="Text 14"/>
          <p:cNvSpPr txBox="1"/>
          <p:nvPr/>
        </p:nvSpPr>
        <p:spPr>
          <a:xfrm>
            <a:off x="3017520" y="2651760"/>
            <a:ext cx="8412480" cy="365760"/>
          </a:xfrm>
          <a:prstGeom prst="rect">
            <a:avLst/>
          </a:prstGeom>
          <a:noFill/>
          <a:ln/>
        </p:spPr>
        <p:txBody>
          <a:bodyPr wrap="square" lIns="0" tIns="0" rIns="0" bIns="0" rtlCol="0" anchor="ctr"/>
          <a:lstStyle/>
          <a:p>
            <a:pPr indent="0" marL="0">
              <a:buNone/>
            </a:pPr>
            <a:r>
              <a:rPr lang="en-US" sz="1700" b="1" dirty="0">
                <a:solidFill>
                  <a:srgbClr val="111A17"/>
                </a:solidFill>
                <a:latin typeface="Arial" pitchFamily="34" charset="0"/>
                <a:ea typeface="Arial" pitchFamily="34" charset="-122"/>
                <a:cs typeface="Arial" pitchFamily="34" charset="-120"/>
              </a:rPr>
              <a:t>Under 1 ms — no database, no cache, no other service.</a:t>
            </a:r>
            <a:endParaRPr lang="en-US" sz="1700" dirty="0"/>
          </a:p>
        </p:txBody>
      </p:sp>
      <p:sp>
        <p:nvSpPr>
          <p:cNvPr id="17" name="Shape 15"/>
          <p:cNvSpPr/>
          <p:nvPr/>
        </p:nvSpPr>
        <p:spPr>
          <a:xfrm>
            <a:off x="3977640" y="4069080"/>
            <a:ext cx="2651760" cy="868680"/>
          </a:xfrm>
          <a:prstGeom prst="roundRect">
            <a:avLst>
              <a:gd name="adj" fmla="val 6316"/>
            </a:avLst>
          </a:prstGeom>
          <a:solidFill>
            <a:srgbClr val="F7F9F8"/>
          </a:solidFill>
          <a:ln w="12700">
            <a:solidFill>
              <a:srgbClr val="C9D2CD"/>
            </a:solidFill>
            <a:prstDash val="solid"/>
          </a:ln>
        </p:spPr>
      </p:sp>
      <p:sp>
        <p:nvSpPr>
          <p:cNvPr id="18" name="Text 16"/>
          <p:cNvSpPr txBox="1"/>
          <p:nvPr/>
        </p:nvSpPr>
        <p:spPr>
          <a:xfrm>
            <a:off x="3977640" y="4187952"/>
            <a:ext cx="2651760" cy="320040"/>
          </a:xfrm>
          <a:prstGeom prst="rect">
            <a:avLst/>
          </a:prstGeom>
          <a:noFill/>
          <a:ln/>
        </p:spPr>
        <p:txBody>
          <a:bodyPr wrap="square" lIns="0" tIns="0" rIns="0" bIns="0" rtlCol="0" anchor="ctr"/>
          <a:lstStyle/>
          <a:p>
            <a:pPr algn="ctr" indent="0" marL="0">
              <a:buNone/>
            </a:pPr>
            <a:r>
              <a:rPr lang="en-US" sz="1500" b="1" dirty="0">
                <a:solidFill>
                  <a:srgbClr val="111A17"/>
                </a:solidFill>
                <a:latin typeface="Arial" pitchFamily="34" charset="0"/>
                <a:ea typeface="Arial" pitchFamily="34" charset="-122"/>
                <a:cs typeface="Arial" pitchFamily="34" charset="-120"/>
              </a:rPr>
              <a:t>Postgres</a:t>
            </a:r>
            <a:endParaRPr lang="en-US" sz="1500" dirty="0"/>
          </a:p>
        </p:txBody>
      </p:sp>
      <p:sp>
        <p:nvSpPr>
          <p:cNvPr id="19" name="Text 17"/>
          <p:cNvSpPr txBox="1"/>
          <p:nvPr/>
        </p:nvSpPr>
        <p:spPr>
          <a:xfrm>
            <a:off x="3977640" y="4526280"/>
            <a:ext cx="2651760" cy="2286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policies + log</a:t>
            </a:r>
            <a:endParaRPr lang="en-US" sz="900" dirty="0"/>
          </a:p>
        </p:txBody>
      </p:sp>
      <p:sp>
        <p:nvSpPr>
          <p:cNvPr id="20" name="Shape 18"/>
          <p:cNvSpPr/>
          <p:nvPr/>
        </p:nvSpPr>
        <p:spPr>
          <a:xfrm flipV="1">
            <a:off x="4480560" y="2542032"/>
            <a:ext cx="0" cy="1481328"/>
          </a:xfrm>
          <a:prstGeom prst="line">
            <a:avLst/>
          </a:prstGeom>
          <a:noFill/>
          <a:ln w="22225">
            <a:solidFill>
              <a:srgbClr val="56625D"/>
            </a:solidFill>
            <a:prstDash val="dash"/>
            <a:tailEnd type="triangle"/>
          </a:ln>
        </p:spPr>
      </p:sp>
      <p:sp>
        <p:nvSpPr>
          <p:cNvPr id="21" name="Text 19"/>
          <p:cNvSpPr txBox="1"/>
          <p:nvPr/>
        </p:nvSpPr>
        <p:spPr>
          <a:xfrm>
            <a:off x="4617720" y="3200400"/>
            <a:ext cx="274320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policies in · every 3s</a:t>
            </a:r>
            <a:endParaRPr lang="en-US" sz="1000" dirty="0"/>
          </a:p>
        </p:txBody>
      </p:sp>
      <p:sp>
        <p:nvSpPr>
          <p:cNvPr id="22" name="Shape 20"/>
          <p:cNvSpPr/>
          <p:nvPr/>
        </p:nvSpPr>
        <p:spPr>
          <a:xfrm flipH="1" flipV="1">
            <a:off x="6675120" y="2542032"/>
            <a:ext cx="2743200" cy="1481328"/>
          </a:xfrm>
          <a:prstGeom prst="line">
            <a:avLst/>
          </a:prstGeom>
          <a:noFill/>
          <a:ln w="22225">
            <a:solidFill>
              <a:srgbClr val="56625D"/>
            </a:solidFill>
            <a:prstDash val="dash"/>
            <a:tailEnd type="triangle"/>
          </a:ln>
        </p:spPr>
      </p:sp>
      <p:sp>
        <p:nvSpPr>
          <p:cNvPr id="23" name="Text 21"/>
          <p:cNvSpPr txBox="1"/>
          <p:nvPr/>
        </p:nvSpPr>
        <p:spPr>
          <a:xfrm>
            <a:off x="7772400" y="3310128"/>
            <a:ext cx="274320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log out · in batches</a:t>
            </a:r>
            <a:endParaRPr lang="en-US" sz="1000" dirty="0"/>
          </a:p>
        </p:txBody>
      </p:sp>
      <p:sp>
        <p:nvSpPr>
          <p:cNvPr id="24" name="Text 22"/>
          <p:cNvSpPr txBox="1"/>
          <p:nvPr/>
        </p:nvSpPr>
        <p:spPr>
          <a:xfrm>
            <a:off x="731520" y="5166360"/>
            <a:ext cx="10698480" cy="32004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Dashed = beside the request, not inside it.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1069848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The decision service holds no state.</a:t>
            </a:r>
            <a:endParaRPr lang="en-US" sz="3200" dirty="0"/>
          </a:p>
        </p:txBody>
      </p:sp>
      <p:sp>
        <p:nvSpPr>
          <p:cNvPr id="3" name="Text 1"/>
          <p:cNvSpPr txBox="1"/>
          <p:nvPr/>
        </p:nvSpPr>
        <p:spPr>
          <a:xfrm>
            <a:off x="731520" y="1463040"/>
            <a:ext cx="6035040" cy="329184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111A17"/>
                </a:solidFill>
                <a:latin typeface="Calibri" pitchFamily="34" charset="0"/>
                <a:ea typeface="Calibri" pitchFamily="34" charset="-122"/>
                <a:cs typeface="Calibri" pitchFamily="34" charset="-120"/>
              </a:rPr>
              <a:t>Policies live in memory, refreshed every 3 seconds</a:t>
            </a:r>
            <a:endParaRPr lang="en-US" sz="1600" dirty="0"/>
          </a:p>
          <a:p>
            <a:pPr marL="342900" indent="-342900">
              <a:spcAft>
                <a:spcPts val="1000"/>
              </a:spcAft>
              <a:buSzPct val="100000"/>
              <a:buChar char="•"/>
            </a:pPr>
            <a:r>
              <a:rPr lang="en-US" sz="1600" dirty="0">
                <a:solidFill>
                  <a:srgbClr val="111A17"/>
                </a:solidFill>
                <a:latin typeface="Calibri" pitchFamily="34" charset="0"/>
                <a:ea typeface="Calibri" pitchFamily="34" charset="-122"/>
                <a:cs typeface="Calibri" pitchFamily="34" charset="-120"/>
              </a:rPr>
              <a:t>A decision touches no network — zero database calls on the hot path</a:t>
            </a:r>
            <a:endParaRPr lang="en-US" sz="1600" dirty="0"/>
          </a:p>
          <a:p>
            <a:pPr marL="342900" indent="-342900">
              <a:spcAft>
                <a:spcPts val="1000"/>
              </a:spcAft>
              <a:buSzPct val="100000"/>
              <a:buChar char="•"/>
            </a:pPr>
            <a:r>
              <a:rPr lang="en-US" sz="1600" dirty="0">
                <a:solidFill>
                  <a:srgbClr val="111A17"/>
                </a:solidFill>
                <a:latin typeface="Calibri" pitchFamily="34" charset="0"/>
                <a:ea typeface="Calibri" pitchFamily="34" charset="-122"/>
                <a:cs typeface="Calibri" pitchFamily="34" charset="-120"/>
              </a:rPr>
              <a:t>Logs are buffered and written in batches, capped at 10,000 rows</a:t>
            </a:r>
            <a:endParaRPr lang="en-US" sz="1600" dirty="0"/>
          </a:p>
          <a:p>
            <a:pPr marL="342900" indent="-342900">
              <a:spcAft>
                <a:spcPts val="1000"/>
              </a:spcAft>
              <a:buSzPct val="100000"/>
              <a:buChar char="•"/>
            </a:pPr>
            <a:r>
              <a:rPr lang="en-US" sz="1600" dirty="0">
                <a:solidFill>
                  <a:srgbClr val="111A17"/>
                </a:solidFill>
                <a:latin typeface="Calibri" pitchFamily="34" charset="0"/>
                <a:ea typeface="Calibri" pitchFamily="34" charset="-122"/>
                <a:cs typeface="Calibri" pitchFamily="34" charset="-120"/>
              </a:rPr>
              <a:t>Postgres dies, it keeps deciding. No policies yet, it denies.</a:t>
            </a:r>
            <a:endParaRPr lang="en-US" sz="1600" dirty="0"/>
          </a:p>
          <a:p>
            <a:pPr marL="342900" indent="-342900">
              <a:spcAft>
                <a:spcPts val="1000"/>
              </a:spcAft>
              <a:buSzPct val="100000"/>
              <a:buChar char="•"/>
            </a:pPr>
            <a:r>
              <a:rPr lang="en-US" sz="1600" dirty="0">
                <a:solidFill>
                  <a:srgbClr val="111A17"/>
                </a:solidFill>
                <a:latin typeface="Calibri" pitchFamily="34" charset="0"/>
                <a:ea typeface="Calibri" pitchFamily="34" charset="-122"/>
                <a:cs typeface="Calibri" pitchFamily="34" charset="-120"/>
              </a:rPr>
              <a:t>No pod holds anything unique, so any pod can answer any request</a:t>
            </a:r>
            <a:endParaRPr lang="en-US" sz="1600" dirty="0"/>
          </a:p>
        </p:txBody>
      </p:sp>
      <p:sp>
        <p:nvSpPr>
          <p:cNvPr id="4" name="Shape 2"/>
          <p:cNvSpPr/>
          <p:nvPr/>
        </p:nvSpPr>
        <p:spPr>
          <a:xfrm>
            <a:off x="7223760" y="1463040"/>
            <a:ext cx="4206240" cy="2834640"/>
          </a:xfrm>
          <a:prstGeom prst="roundRect">
            <a:avLst>
              <a:gd name="adj" fmla="val 3226"/>
            </a:avLst>
          </a:prstGeom>
          <a:solidFill>
            <a:srgbClr val="DDE3FB"/>
          </a:solidFill>
          <a:ln w="19050">
            <a:solidFill>
              <a:srgbClr val="2B45D9"/>
            </a:solidFill>
            <a:prstDash val="solid"/>
          </a:ln>
        </p:spPr>
      </p:sp>
      <p:sp>
        <p:nvSpPr>
          <p:cNvPr id="5" name="Text 3"/>
          <p:cNvSpPr txBox="1"/>
          <p:nvPr/>
        </p:nvSpPr>
        <p:spPr>
          <a:xfrm>
            <a:off x="7223760" y="1664208"/>
            <a:ext cx="4206240" cy="274320"/>
          </a:xfrm>
          <a:prstGeom prst="rect">
            <a:avLst/>
          </a:prstGeom>
          <a:noFill/>
          <a:ln/>
        </p:spPr>
        <p:txBody>
          <a:bodyPr wrap="square" lIns="0" tIns="0" rIns="0" bIns="0" rtlCol="0" anchor="ctr"/>
          <a:lstStyle/>
          <a:p>
            <a:pPr algn="ctr" indent="0" marL="0">
              <a:buNone/>
            </a:pPr>
            <a:r>
              <a:rPr lang="en-US" sz="1000" spc="100" kern="0" dirty="0">
                <a:solidFill>
                  <a:srgbClr val="2B45D9"/>
                </a:solidFill>
                <a:latin typeface="Courier New" pitchFamily="34" charset="0"/>
                <a:ea typeface="Courier New" pitchFamily="34" charset="-122"/>
                <a:cs typeface="Courier New" pitchFamily="34" charset="-120"/>
              </a:rPr>
              <a:t>ONE POD</a:t>
            </a:r>
            <a:endParaRPr lang="en-US" sz="1000" dirty="0"/>
          </a:p>
        </p:txBody>
      </p:sp>
      <p:sp>
        <p:nvSpPr>
          <p:cNvPr id="6" name="Text 4"/>
          <p:cNvSpPr txBox="1"/>
          <p:nvPr/>
        </p:nvSpPr>
        <p:spPr>
          <a:xfrm>
            <a:off x="7223760" y="1965960"/>
            <a:ext cx="4206240" cy="365760"/>
          </a:xfrm>
          <a:prstGeom prst="rect">
            <a:avLst/>
          </a:prstGeom>
          <a:noFill/>
          <a:ln/>
        </p:spPr>
        <p:txBody>
          <a:bodyPr wrap="square" lIns="0" tIns="0" rIns="0" bIns="0" rtlCol="0" anchor="ctr"/>
          <a:lstStyle/>
          <a:p>
            <a:pPr algn="ctr" indent="0" marL="0">
              <a:buNone/>
            </a:pPr>
            <a:r>
              <a:rPr lang="en-US" sz="1700" b="1" dirty="0">
                <a:solidFill>
                  <a:srgbClr val="111A17"/>
                </a:solidFill>
                <a:latin typeface="Arial" pitchFamily="34" charset="0"/>
                <a:ea typeface="Arial" pitchFamily="34" charset="-122"/>
                <a:cs typeface="Arial" pitchFamily="34" charset="-120"/>
              </a:rPr>
              <a:t>policies in memory</a:t>
            </a:r>
            <a:endParaRPr lang="en-US" sz="1700" dirty="0"/>
          </a:p>
        </p:txBody>
      </p:sp>
      <p:sp>
        <p:nvSpPr>
          <p:cNvPr id="7" name="Text 5"/>
          <p:cNvSpPr txBox="1"/>
          <p:nvPr/>
        </p:nvSpPr>
        <p:spPr>
          <a:xfrm>
            <a:off x="7223760" y="2468880"/>
            <a:ext cx="4206240" cy="914400"/>
          </a:xfrm>
          <a:prstGeom prst="rect">
            <a:avLst/>
          </a:prstGeom>
          <a:noFill/>
          <a:ln/>
        </p:spPr>
        <p:txBody>
          <a:bodyPr wrap="square" lIns="0" tIns="0" rIns="0" bIns="0" rtlCol="0" anchor="ctr"/>
          <a:lstStyle/>
          <a:p>
            <a:pPr algn="ctr" indent="0" marL="0">
              <a:buNone/>
            </a:pPr>
            <a:r>
              <a:rPr lang="en-US" sz="5200" b="1" dirty="0">
                <a:solidFill>
                  <a:srgbClr val="2B45D9"/>
                </a:solidFill>
                <a:latin typeface="Arial" pitchFamily="34" charset="0"/>
                <a:ea typeface="Arial" pitchFamily="34" charset="-122"/>
                <a:cs typeface="Arial" pitchFamily="34" charset="-120"/>
              </a:rPr>
              <a:t>&lt; 1 ms</a:t>
            </a:r>
            <a:endParaRPr lang="en-US" sz="5200" dirty="0"/>
          </a:p>
        </p:txBody>
      </p:sp>
      <p:sp>
        <p:nvSpPr>
          <p:cNvPr id="8" name="Text 6"/>
          <p:cNvSpPr txBox="1"/>
          <p:nvPr/>
        </p:nvSpPr>
        <p:spPr>
          <a:xfrm>
            <a:off x="7223760" y="3611880"/>
            <a:ext cx="4206240" cy="365760"/>
          </a:xfrm>
          <a:prstGeom prst="rect">
            <a:avLst/>
          </a:prstGeom>
          <a:noFill/>
          <a:ln/>
        </p:spPr>
        <p:txBody>
          <a:bodyPr wrap="square" lIns="0" tIns="0" rIns="0" bIns="0" rtlCol="0" anchor="ctr"/>
          <a:lstStyle/>
          <a:p>
            <a:pPr algn="ctr" indent="0" marL="0">
              <a:buNone/>
            </a:pPr>
            <a:r>
              <a:rPr lang="en-US" sz="1300" dirty="0">
                <a:solidFill>
                  <a:srgbClr val="56625D"/>
                </a:solidFill>
                <a:latin typeface="Calibri" pitchFamily="34" charset="0"/>
                <a:ea typeface="Calibri" pitchFamily="34" charset="-122"/>
                <a:cs typeface="Calibri" pitchFamily="34" charset="-120"/>
              </a:rPr>
              <a:t>no network on the hot path</a:t>
            </a:r>
            <a:endParaRPr lang="en-US" sz="1300" dirty="0"/>
          </a:p>
        </p:txBody>
      </p:sp>
      <p:sp>
        <p:nvSpPr>
          <p:cNvPr id="9" name="Text 7"/>
          <p:cNvSpPr txBox="1"/>
          <p:nvPr/>
        </p:nvSpPr>
        <p:spPr>
          <a:xfrm>
            <a:off x="7223760" y="4434840"/>
            <a:ext cx="4206240" cy="457200"/>
          </a:xfrm>
          <a:prstGeom prst="rect">
            <a:avLst/>
          </a:prstGeom>
          <a:noFill/>
          <a:ln/>
        </p:spPr>
        <p:txBody>
          <a:bodyPr wrap="square" lIns="0" tIns="0" rIns="0" bIns="0" rtlCol="0" anchor="ctr"/>
          <a:lstStyle/>
          <a:p>
            <a:pPr algn="ctr" indent="0" marL="0">
              <a:buNone/>
            </a:pPr>
            <a:r>
              <a:rPr lang="en-US" sz="900" dirty="0">
                <a:solidFill>
                  <a:srgbClr val="56625D"/>
                </a:solidFill>
                <a:latin typeface="Courier New" pitchFamily="34" charset="0"/>
                <a:ea typeface="Courier New" pitchFamily="34" charset="-122"/>
                <a:cs typeface="Courier New" pitchFamily="34" charset="-120"/>
              </a:rPr>
              <a:t>logs buffered · flushed in batches · capped at 10,000 rows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1069848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So Kubernetes just adds pods</a:t>
            </a:r>
            <a:endParaRPr lang="en-US" sz="3200" dirty="0"/>
          </a:p>
        </p:txBody>
      </p:sp>
      <p:sp>
        <p:nvSpPr>
          <p:cNvPr id="3" name="Text 1"/>
          <p:cNvSpPr txBox="1"/>
          <p:nvPr/>
        </p:nvSpPr>
        <p:spPr>
          <a:xfrm>
            <a:off x="731520" y="1207008"/>
            <a:ext cx="5486400" cy="256032"/>
          </a:xfrm>
          <a:prstGeom prst="rect">
            <a:avLst/>
          </a:prstGeom>
          <a:noFill/>
          <a:ln/>
        </p:spPr>
        <p:txBody>
          <a:bodyPr wrap="square" lIns="0" tIns="0" rIns="0" bIns="0" rtlCol="0" anchor="ctr"/>
          <a:lstStyle/>
          <a:p>
            <a:pPr indent="0" marL="0">
              <a:buNone/>
            </a:pPr>
            <a:r>
              <a:rPr lang="en-US" sz="1000" spc="100" kern="0" dirty="0">
                <a:solidFill>
                  <a:srgbClr val="2B45D9"/>
                </a:solidFill>
                <a:latin typeface="Courier New" pitchFamily="34" charset="0"/>
                <a:ea typeface="Courier New" pitchFamily="34" charset="-122"/>
                <a:cs typeface="Courier New" pitchFamily="34" charset="-120"/>
              </a:rPr>
              <a:t>REQUESTS PER SECOND</a:t>
            </a:r>
            <a:endParaRPr lang="en-US" sz="1000" dirty="0"/>
          </a:p>
        </p:txBody>
      </p:sp>
      <p:sp>
        <p:nvSpPr>
          <p:cNvPr id="4" name="Shape 2"/>
          <p:cNvSpPr/>
          <p:nvPr/>
        </p:nvSpPr>
        <p:spPr>
          <a:xfrm>
            <a:off x="731520" y="2359152"/>
            <a:ext cx="640080" cy="128016"/>
          </a:xfrm>
          <a:prstGeom prst="roundRect">
            <a:avLst>
              <a:gd name="adj" fmla="val 28571"/>
            </a:avLst>
          </a:prstGeom>
          <a:solidFill>
            <a:srgbClr val="DDE3FB"/>
          </a:solidFill>
          <a:ln w="9525">
            <a:solidFill>
              <a:srgbClr val="2B45D9"/>
            </a:solidFill>
            <a:prstDash val="solid"/>
          </a:ln>
        </p:spPr>
      </p:sp>
      <p:sp>
        <p:nvSpPr>
          <p:cNvPr id="5" name="Shape 3"/>
          <p:cNvSpPr/>
          <p:nvPr/>
        </p:nvSpPr>
        <p:spPr>
          <a:xfrm>
            <a:off x="1627632" y="2294313"/>
            <a:ext cx="640080" cy="192855"/>
          </a:xfrm>
          <a:prstGeom prst="roundRect">
            <a:avLst>
              <a:gd name="adj" fmla="val 18966"/>
            </a:avLst>
          </a:prstGeom>
          <a:solidFill>
            <a:srgbClr val="DDE3FB"/>
          </a:solidFill>
          <a:ln w="9525">
            <a:solidFill>
              <a:srgbClr val="2B45D9"/>
            </a:solidFill>
            <a:prstDash val="solid"/>
          </a:ln>
        </p:spPr>
      </p:sp>
      <p:sp>
        <p:nvSpPr>
          <p:cNvPr id="6" name="Shape 4"/>
          <p:cNvSpPr/>
          <p:nvPr/>
        </p:nvSpPr>
        <p:spPr>
          <a:xfrm>
            <a:off x="2523744" y="2229473"/>
            <a:ext cx="640080" cy="257695"/>
          </a:xfrm>
          <a:prstGeom prst="roundRect">
            <a:avLst>
              <a:gd name="adj" fmla="val 14194"/>
            </a:avLst>
          </a:prstGeom>
          <a:solidFill>
            <a:srgbClr val="DDE3FB"/>
          </a:solidFill>
          <a:ln w="9525">
            <a:solidFill>
              <a:srgbClr val="2B45D9"/>
            </a:solidFill>
            <a:prstDash val="solid"/>
          </a:ln>
        </p:spPr>
      </p:sp>
      <p:sp>
        <p:nvSpPr>
          <p:cNvPr id="7" name="Shape 5"/>
          <p:cNvSpPr/>
          <p:nvPr/>
        </p:nvSpPr>
        <p:spPr>
          <a:xfrm>
            <a:off x="3419856" y="2164634"/>
            <a:ext cx="640080" cy="322534"/>
          </a:xfrm>
          <a:prstGeom prst="roundRect">
            <a:avLst>
              <a:gd name="adj" fmla="val 11340"/>
            </a:avLst>
          </a:prstGeom>
          <a:solidFill>
            <a:srgbClr val="DDE3FB"/>
          </a:solidFill>
          <a:ln w="9525">
            <a:solidFill>
              <a:srgbClr val="2B45D9"/>
            </a:solidFill>
            <a:prstDash val="solid"/>
          </a:ln>
        </p:spPr>
      </p:sp>
      <p:sp>
        <p:nvSpPr>
          <p:cNvPr id="8" name="Shape 6"/>
          <p:cNvSpPr/>
          <p:nvPr/>
        </p:nvSpPr>
        <p:spPr>
          <a:xfrm>
            <a:off x="4315968" y="2099795"/>
            <a:ext cx="640080" cy="387373"/>
          </a:xfrm>
          <a:prstGeom prst="roundRect">
            <a:avLst>
              <a:gd name="adj" fmla="val 9442"/>
            </a:avLst>
          </a:prstGeom>
          <a:solidFill>
            <a:srgbClr val="DDE3FB"/>
          </a:solidFill>
          <a:ln w="9525">
            <a:solidFill>
              <a:srgbClr val="2B45D9"/>
            </a:solidFill>
            <a:prstDash val="solid"/>
          </a:ln>
        </p:spPr>
      </p:sp>
      <p:sp>
        <p:nvSpPr>
          <p:cNvPr id="9" name="Shape 7"/>
          <p:cNvSpPr/>
          <p:nvPr/>
        </p:nvSpPr>
        <p:spPr>
          <a:xfrm>
            <a:off x="5212080" y="2034956"/>
            <a:ext cx="640080" cy="452212"/>
          </a:xfrm>
          <a:prstGeom prst="roundRect">
            <a:avLst>
              <a:gd name="adj" fmla="val 8088"/>
            </a:avLst>
          </a:prstGeom>
          <a:solidFill>
            <a:srgbClr val="DDE3FB"/>
          </a:solidFill>
          <a:ln w="9525">
            <a:solidFill>
              <a:srgbClr val="2B45D9"/>
            </a:solidFill>
            <a:prstDash val="solid"/>
          </a:ln>
        </p:spPr>
      </p:sp>
      <p:sp>
        <p:nvSpPr>
          <p:cNvPr id="10" name="Shape 8"/>
          <p:cNvSpPr/>
          <p:nvPr/>
        </p:nvSpPr>
        <p:spPr>
          <a:xfrm>
            <a:off x="6108192" y="1970116"/>
            <a:ext cx="640080" cy="517052"/>
          </a:xfrm>
          <a:prstGeom prst="roundRect">
            <a:avLst>
              <a:gd name="adj" fmla="val 7074"/>
            </a:avLst>
          </a:prstGeom>
          <a:solidFill>
            <a:srgbClr val="DDE3FB"/>
          </a:solidFill>
          <a:ln w="9525">
            <a:solidFill>
              <a:srgbClr val="2B45D9"/>
            </a:solidFill>
            <a:prstDash val="solid"/>
          </a:ln>
        </p:spPr>
      </p:sp>
      <p:sp>
        <p:nvSpPr>
          <p:cNvPr id="11" name="Shape 9"/>
          <p:cNvSpPr/>
          <p:nvPr/>
        </p:nvSpPr>
        <p:spPr>
          <a:xfrm>
            <a:off x="7004304" y="1905277"/>
            <a:ext cx="640080" cy="581891"/>
          </a:xfrm>
          <a:prstGeom prst="roundRect">
            <a:avLst>
              <a:gd name="adj" fmla="val 6286"/>
            </a:avLst>
          </a:prstGeom>
          <a:solidFill>
            <a:srgbClr val="DDE3FB"/>
          </a:solidFill>
          <a:ln w="9525">
            <a:solidFill>
              <a:srgbClr val="2B45D9"/>
            </a:solidFill>
            <a:prstDash val="solid"/>
          </a:ln>
        </p:spPr>
      </p:sp>
      <p:sp>
        <p:nvSpPr>
          <p:cNvPr id="12" name="Shape 10"/>
          <p:cNvSpPr/>
          <p:nvPr/>
        </p:nvSpPr>
        <p:spPr>
          <a:xfrm>
            <a:off x="7900416" y="1840438"/>
            <a:ext cx="640080" cy="646730"/>
          </a:xfrm>
          <a:prstGeom prst="roundRect">
            <a:avLst>
              <a:gd name="adj" fmla="val 5714"/>
            </a:avLst>
          </a:prstGeom>
          <a:solidFill>
            <a:srgbClr val="DDE3FB"/>
          </a:solidFill>
          <a:ln w="9525">
            <a:solidFill>
              <a:srgbClr val="2B45D9"/>
            </a:solidFill>
            <a:prstDash val="solid"/>
          </a:ln>
        </p:spPr>
      </p:sp>
      <p:sp>
        <p:nvSpPr>
          <p:cNvPr id="13" name="Shape 11"/>
          <p:cNvSpPr/>
          <p:nvPr/>
        </p:nvSpPr>
        <p:spPr>
          <a:xfrm>
            <a:off x="8796528" y="1775599"/>
            <a:ext cx="640080" cy="711569"/>
          </a:xfrm>
          <a:prstGeom prst="roundRect">
            <a:avLst>
              <a:gd name="adj" fmla="val 5714"/>
            </a:avLst>
          </a:prstGeom>
          <a:solidFill>
            <a:srgbClr val="DDE3FB"/>
          </a:solidFill>
          <a:ln w="9525">
            <a:solidFill>
              <a:srgbClr val="2B45D9"/>
            </a:solidFill>
            <a:prstDash val="solid"/>
          </a:ln>
        </p:spPr>
      </p:sp>
      <p:sp>
        <p:nvSpPr>
          <p:cNvPr id="14" name="Shape 12"/>
          <p:cNvSpPr/>
          <p:nvPr/>
        </p:nvSpPr>
        <p:spPr>
          <a:xfrm>
            <a:off x="9692640" y="1710759"/>
            <a:ext cx="640080" cy="776409"/>
          </a:xfrm>
          <a:prstGeom prst="roundRect">
            <a:avLst>
              <a:gd name="adj" fmla="val 5714"/>
            </a:avLst>
          </a:prstGeom>
          <a:solidFill>
            <a:srgbClr val="DDE3FB"/>
          </a:solidFill>
          <a:ln w="9525">
            <a:solidFill>
              <a:srgbClr val="2B45D9"/>
            </a:solidFill>
            <a:prstDash val="solid"/>
          </a:ln>
        </p:spPr>
      </p:sp>
      <p:sp>
        <p:nvSpPr>
          <p:cNvPr id="15" name="Shape 13"/>
          <p:cNvSpPr/>
          <p:nvPr/>
        </p:nvSpPr>
        <p:spPr>
          <a:xfrm>
            <a:off x="10588752" y="1645920"/>
            <a:ext cx="640080" cy="841248"/>
          </a:xfrm>
          <a:prstGeom prst="roundRect">
            <a:avLst>
              <a:gd name="adj" fmla="val 5714"/>
            </a:avLst>
          </a:prstGeom>
          <a:solidFill>
            <a:srgbClr val="DDE3FB"/>
          </a:solidFill>
          <a:ln w="9525">
            <a:solidFill>
              <a:srgbClr val="2B45D9"/>
            </a:solidFill>
            <a:prstDash val="solid"/>
          </a:ln>
        </p:spPr>
      </p:sp>
      <p:sp>
        <p:nvSpPr>
          <p:cNvPr id="16" name="Shape 14"/>
          <p:cNvSpPr/>
          <p:nvPr/>
        </p:nvSpPr>
        <p:spPr>
          <a:xfrm>
            <a:off x="731520" y="2788920"/>
            <a:ext cx="4572000" cy="2697480"/>
          </a:xfrm>
          <a:prstGeom prst="roundRect">
            <a:avLst>
              <a:gd name="adj" fmla="val 3390"/>
            </a:avLst>
          </a:prstGeom>
          <a:solidFill>
            <a:srgbClr val="E9EDEA"/>
          </a:solidFill>
          <a:ln w="12700">
            <a:solidFill>
              <a:srgbClr val="C9D2CD"/>
            </a:solidFill>
            <a:prstDash val="solid"/>
          </a:ln>
        </p:spPr>
      </p:sp>
      <p:sp>
        <p:nvSpPr>
          <p:cNvPr id="17" name="Text 15"/>
          <p:cNvSpPr txBox="1"/>
          <p:nvPr/>
        </p:nvSpPr>
        <p:spPr>
          <a:xfrm>
            <a:off x="960120" y="2999232"/>
            <a:ext cx="5486400" cy="256032"/>
          </a:xfrm>
          <a:prstGeom prst="rect">
            <a:avLst/>
          </a:prstGeom>
          <a:noFill/>
          <a:ln/>
        </p:spPr>
        <p:txBody>
          <a:bodyPr wrap="square" lIns="0" tIns="0" rIns="0" bIns="0" rtlCol="0" anchor="ctr"/>
          <a:lstStyle/>
          <a:p>
            <a:pPr indent="0" marL="0">
              <a:buNone/>
            </a:pPr>
            <a:r>
              <a:rPr lang="en-US" sz="1000" spc="100" kern="0" dirty="0">
                <a:solidFill>
                  <a:srgbClr val="56625D"/>
                </a:solidFill>
                <a:latin typeface="Courier New" pitchFamily="34" charset="0"/>
                <a:ea typeface="Courier New" pitchFamily="34" charset="-122"/>
                <a:cs typeface="Courier New" pitchFamily="34" charset="-120"/>
              </a:rPr>
              <a:t>NORMAL · 2 PODS</a:t>
            </a:r>
            <a:endParaRPr lang="en-US" sz="1000" dirty="0"/>
          </a:p>
        </p:txBody>
      </p:sp>
      <p:sp>
        <p:nvSpPr>
          <p:cNvPr id="18" name="Shape 16"/>
          <p:cNvSpPr/>
          <p:nvPr/>
        </p:nvSpPr>
        <p:spPr>
          <a:xfrm>
            <a:off x="960120" y="3364992"/>
            <a:ext cx="1737360" cy="731520"/>
          </a:xfrm>
          <a:prstGeom prst="roundRect">
            <a:avLst>
              <a:gd name="adj" fmla="val 12500"/>
            </a:avLst>
          </a:prstGeom>
          <a:solidFill>
            <a:srgbClr val="DDE3FB"/>
          </a:solidFill>
          <a:ln w="15875">
            <a:solidFill>
              <a:srgbClr val="2B45D9"/>
            </a:solidFill>
            <a:prstDash val="solid"/>
          </a:ln>
        </p:spPr>
      </p:sp>
      <p:sp>
        <p:nvSpPr>
          <p:cNvPr id="19" name="Text 17"/>
          <p:cNvSpPr txBox="1"/>
          <p:nvPr/>
        </p:nvSpPr>
        <p:spPr>
          <a:xfrm>
            <a:off x="960120" y="3584448"/>
            <a:ext cx="1737360" cy="292608"/>
          </a:xfrm>
          <a:prstGeom prst="rect">
            <a:avLst/>
          </a:prstGeom>
          <a:noFill/>
          <a:ln/>
        </p:spPr>
        <p:txBody>
          <a:bodyPr wrap="square" lIns="0" tIns="0" rIns="0" bIns="0" rtlCol="0" anchor="ctr"/>
          <a:lstStyle/>
          <a:p>
            <a:pPr algn="ctr" indent="0" marL="0">
              <a:buNone/>
            </a:pPr>
            <a:r>
              <a:rPr lang="en-US" sz="1100" dirty="0">
                <a:solidFill>
                  <a:srgbClr val="111A17"/>
                </a:solidFill>
                <a:latin typeface="Courier New" pitchFamily="34" charset="0"/>
                <a:ea typeface="Courier New" pitchFamily="34" charset="-122"/>
                <a:cs typeface="Courier New" pitchFamily="34" charset="-120"/>
              </a:rPr>
              <a:t>pod</a:t>
            </a:r>
            <a:endParaRPr lang="en-US" sz="1100" dirty="0"/>
          </a:p>
        </p:txBody>
      </p:sp>
      <p:sp>
        <p:nvSpPr>
          <p:cNvPr id="20" name="Shape 18"/>
          <p:cNvSpPr/>
          <p:nvPr/>
        </p:nvSpPr>
        <p:spPr>
          <a:xfrm>
            <a:off x="2880360" y="3364992"/>
            <a:ext cx="1737360" cy="731520"/>
          </a:xfrm>
          <a:prstGeom prst="roundRect">
            <a:avLst>
              <a:gd name="adj" fmla="val 12500"/>
            </a:avLst>
          </a:prstGeom>
          <a:solidFill>
            <a:srgbClr val="DDE3FB"/>
          </a:solidFill>
          <a:ln w="15875">
            <a:solidFill>
              <a:srgbClr val="2B45D9"/>
            </a:solidFill>
            <a:prstDash val="solid"/>
          </a:ln>
        </p:spPr>
      </p:sp>
      <p:sp>
        <p:nvSpPr>
          <p:cNvPr id="21" name="Text 19"/>
          <p:cNvSpPr txBox="1"/>
          <p:nvPr/>
        </p:nvSpPr>
        <p:spPr>
          <a:xfrm>
            <a:off x="2880360" y="3584448"/>
            <a:ext cx="1737360" cy="292608"/>
          </a:xfrm>
          <a:prstGeom prst="rect">
            <a:avLst/>
          </a:prstGeom>
          <a:noFill/>
          <a:ln/>
        </p:spPr>
        <p:txBody>
          <a:bodyPr wrap="square" lIns="0" tIns="0" rIns="0" bIns="0" rtlCol="0" anchor="ctr"/>
          <a:lstStyle/>
          <a:p>
            <a:pPr algn="ctr" indent="0" marL="0">
              <a:buNone/>
            </a:pPr>
            <a:r>
              <a:rPr lang="en-US" sz="1100" dirty="0">
                <a:solidFill>
                  <a:srgbClr val="111A17"/>
                </a:solidFill>
                <a:latin typeface="Courier New" pitchFamily="34" charset="0"/>
                <a:ea typeface="Courier New" pitchFamily="34" charset="-122"/>
                <a:cs typeface="Courier New" pitchFamily="34" charset="-120"/>
              </a:rPr>
              <a:t>pod</a:t>
            </a:r>
            <a:endParaRPr lang="en-US" sz="1100" dirty="0"/>
          </a:p>
        </p:txBody>
      </p:sp>
      <p:sp>
        <p:nvSpPr>
          <p:cNvPr id="22" name="Text 20"/>
          <p:cNvSpPr txBox="1"/>
          <p:nvPr/>
        </p:nvSpPr>
        <p:spPr>
          <a:xfrm>
            <a:off x="960120" y="4892040"/>
            <a:ext cx="4114800" cy="36576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CPU below target. Nothing happens.</a:t>
            </a:r>
            <a:endParaRPr lang="en-US" sz="1300" dirty="0"/>
          </a:p>
        </p:txBody>
      </p:sp>
      <p:sp>
        <p:nvSpPr>
          <p:cNvPr id="23" name="Shape 21"/>
          <p:cNvSpPr/>
          <p:nvPr/>
        </p:nvSpPr>
        <p:spPr>
          <a:xfrm>
            <a:off x="5577840" y="4114800"/>
            <a:ext cx="1005840" cy="0"/>
          </a:xfrm>
          <a:prstGeom prst="line">
            <a:avLst/>
          </a:prstGeom>
          <a:noFill/>
          <a:ln w="50800">
            <a:solidFill>
              <a:srgbClr val="2B45D9"/>
            </a:solidFill>
            <a:prstDash val="solid"/>
            <a:tailEnd type="triangle"/>
          </a:ln>
        </p:spPr>
      </p:sp>
      <p:sp>
        <p:nvSpPr>
          <p:cNvPr id="24" name="Text 22"/>
          <p:cNvSpPr txBox="1"/>
          <p:nvPr/>
        </p:nvSpPr>
        <p:spPr>
          <a:xfrm>
            <a:off x="5349240" y="3703320"/>
            <a:ext cx="1463040" cy="320040"/>
          </a:xfrm>
          <a:prstGeom prst="rect">
            <a:avLst/>
          </a:prstGeom>
          <a:noFill/>
          <a:ln/>
        </p:spPr>
        <p:txBody>
          <a:bodyPr wrap="square" lIns="0" tIns="0" rIns="0" bIns="0" rtlCol="0" anchor="ctr"/>
          <a:lstStyle/>
          <a:p>
            <a:pPr algn="ctr" indent="0" marL="0">
              <a:buNone/>
            </a:pPr>
            <a:r>
              <a:rPr lang="en-US" sz="1400" b="1" dirty="0">
                <a:solidFill>
                  <a:srgbClr val="111A17"/>
                </a:solidFill>
                <a:latin typeface="Arial" pitchFamily="34" charset="0"/>
                <a:ea typeface="Arial" pitchFamily="34" charset="-122"/>
                <a:cs typeface="Arial" pitchFamily="34" charset="-120"/>
              </a:rPr>
              <a:t>HPA</a:t>
            </a:r>
            <a:endParaRPr lang="en-US" sz="1400" dirty="0"/>
          </a:p>
        </p:txBody>
      </p:sp>
      <p:sp>
        <p:nvSpPr>
          <p:cNvPr id="25" name="Text 23"/>
          <p:cNvSpPr txBox="1"/>
          <p:nvPr/>
        </p:nvSpPr>
        <p:spPr>
          <a:xfrm>
            <a:off x="5257800" y="4315968"/>
            <a:ext cx="1645920" cy="274320"/>
          </a:xfrm>
          <a:prstGeom prst="rect">
            <a:avLst/>
          </a:prstGeom>
          <a:noFill/>
          <a:ln/>
        </p:spPr>
        <p:txBody>
          <a:bodyPr wrap="square" lIns="0" tIns="0" rIns="0" bIns="0" rtlCol="0" anchor="ctr"/>
          <a:lstStyle/>
          <a:p>
            <a:pPr algn="ctr" indent="0" marL="0">
              <a:buNone/>
            </a:pPr>
            <a:r>
              <a:rPr lang="en-US" sz="900" dirty="0">
                <a:solidFill>
                  <a:srgbClr val="2B45D9"/>
                </a:solidFill>
                <a:latin typeface="Courier New" pitchFamily="34" charset="0"/>
                <a:ea typeface="Courier New" pitchFamily="34" charset="-122"/>
                <a:cs typeface="Courier New" pitchFamily="34" charset="-120"/>
              </a:rPr>
              <a:t>CPU &gt; target</a:t>
            </a:r>
            <a:endParaRPr lang="en-US" sz="900" dirty="0"/>
          </a:p>
        </p:txBody>
      </p:sp>
      <p:sp>
        <p:nvSpPr>
          <p:cNvPr id="26" name="Shape 24"/>
          <p:cNvSpPr/>
          <p:nvPr/>
        </p:nvSpPr>
        <p:spPr>
          <a:xfrm>
            <a:off x="6858000" y="2788920"/>
            <a:ext cx="4572000" cy="2697480"/>
          </a:xfrm>
          <a:prstGeom prst="roundRect">
            <a:avLst>
              <a:gd name="adj" fmla="val 3390"/>
            </a:avLst>
          </a:prstGeom>
          <a:solidFill>
            <a:srgbClr val="E9EDEA"/>
          </a:solidFill>
          <a:ln w="12700">
            <a:solidFill>
              <a:srgbClr val="C9D2CD"/>
            </a:solidFill>
            <a:prstDash val="solid"/>
          </a:ln>
        </p:spPr>
      </p:sp>
      <p:sp>
        <p:nvSpPr>
          <p:cNvPr id="27" name="Text 25"/>
          <p:cNvSpPr txBox="1"/>
          <p:nvPr/>
        </p:nvSpPr>
        <p:spPr>
          <a:xfrm>
            <a:off x="7086600" y="2999232"/>
            <a:ext cx="4647895" cy="256032"/>
          </a:xfrm>
          <a:prstGeom prst="rect">
            <a:avLst/>
          </a:prstGeom>
          <a:noFill/>
          <a:ln/>
        </p:spPr>
        <p:txBody>
          <a:bodyPr wrap="square" lIns="0" tIns="0" rIns="0" bIns="0" rtlCol="0" anchor="ctr"/>
          <a:lstStyle/>
          <a:p>
            <a:pPr indent="0" marL="0">
              <a:buNone/>
            </a:pPr>
            <a:r>
              <a:rPr lang="en-US" sz="1000" spc="100" kern="0" dirty="0">
                <a:solidFill>
                  <a:srgbClr val="2B45D9"/>
                </a:solidFill>
                <a:latin typeface="Courier New" pitchFamily="34" charset="0"/>
                <a:ea typeface="Courier New" pitchFamily="34" charset="-122"/>
                <a:cs typeface="Courier New" pitchFamily="34" charset="-120"/>
              </a:rPr>
              <a:t>HIGH · 6 PODS</a:t>
            </a:r>
            <a:endParaRPr lang="en-US" sz="1000" dirty="0"/>
          </a:p>
        </p:txBody>
      </p:sp>
      <p:sp>
        <p:nvSpPr>
          <p:cNvPr id="28" name="Shape 26"/>
          <p:cNvSpPr/>
          <p:nvPr/>
        </p:nvSpPr>
        <p:spPr>
          <a:xfrm>
            <a:off x="7086600" y="3364992"/>
            <a:ext cx="1298448" cy="658368"/>
          </a:xfrm>
          <a:prstGeom prst="roundRect">
            <a:avLst>
              <a:gd name="adj" fmla="val 13889"/>
            </a:avLst>
          </a:prstGeom>
          <a:solidFill>
            <a:srgbClr val="DDE3FB"/>
          </a:solidFill>
          <a:ln w="15875">
            <a:solidFill>
              <a:srgbClr val="2B45D9"/>
            </a:solidFill>
            <a:prstDash val="solid"/>
          </a:ln>
        </p:spPr>
      </p:sp>
      <p:sp>
        <p:nvSpPr>
          <p:cNvPr id="29" name="Text 27"/>
          <p:cNvSpPr txBox="1"/>
          <p:nvPr/>
        </p:nvSpPr>
        <p:spPr>
          <a:xfrm>
            <a:off x="7086600" y="3547872"/>
            <a:ext cx="1298448" cy="292608"/>
          </a:xfrm>
          <a:prstGeom prst="rect">
            <a:avLst/>
          </a:prstGeom>
          <a:noFill/>
          <a:ln/>
        </p:spPr>
        <p:txBody>
          <a:bodyPr wrap="square" lIns="0" tIns="0" rIns="0" bIns="0" rtlCol="0" anchor="ctr"/>
          <a:lstStyle/>
          <a:p>
            <a:pPr algn="ctr" indent="0" marL="0">
              <a:buNone/>
            </a:pPr>
            <a:r>
              <a:rPr lang="en-US" sz="1100" dirty="0">
                <a:solidFill>
                  <a:srgbClr val="111A17"/>
                </a:solidFill>
                <a:latin typeface="Courier New" pitchFamily="34" charset="0"/>
                <a:ea typeface="Courier New" pitchFamily="34" charset="-122"/>
                <a:cs typeface="Courier New" pitchFamily="34" charset="-120"/>
              </a:rPr>
              <a:t>pod</a:t>
            </a:r>
            <a:endParaRPr lang="en-US" sz="1100" dirty="0"/>
          </a:p>
        </p:txBody>
      </p:sp>
      <p:sp>
        <p:nvSpPr>
          <p:cNvPr id="30" name="Shape 28"/>
          <p:cNvSpPr/>
          <p:nvPr/>
        </p:nvSpPr>
        <p:spPr>
          <a:xfrm>
            <a:off x="7086600" y="4160520"/>
            <a:ext cx="1298448" cy="658368"/>
          </a:xfrm>
          <a:prstGeom prst="roundRect">
            <a:avLst>
              <a:gd name="adj" fmla="val 13889"/>
            </a:avLst>
          </a:prstGeom>
          <a:solidFill>
            <a:srgbClr val="DDE3FB"/>
          </a:solidFill>
          <a:ln w="15875">
            <a:solidFill>
              <a:srgbClr val="2B45D9"/>
            </a:solidFill>
            <a:prstDash val="solid"/>
          </a:ln>
        </p:spPr>
      </p:sp>
      <p:sp>
        <p:nvSpPr>
          <p:cNvPr id="31" name="Text 29"/>
          <p:cNvSpPr txBox="1"/>
          <p:nvPr/>
        </p:nvSpPr>
        <p:spPr>
          <a:xfrm>
            <a:off x="7086600" y="4343400"/>
            <a:ext cx="1298448" cy="292608"/>
          </a:xfrm>
          <a:prstGeom prst="rect">
            <a:avLst/>
          </a:prstGeom>
          <a:noFill/>
          <a:ln/>
        </p:spPr>
        <p:txBody>
          <a:bodyPr wrap="square" lIns="0" tIns="0" rIns="0" bIns="0" rtlCol="0" anchor="ctr"/>
          <a:lstStyle/>
          <a:p>
            <a:pPr algn="ctr" indent="0" marL="0">
              <a:buNone/>
            </a:pPr>
            <a:r>
              <a:rPr lang="en-US" sz="1100" dirty="0">
                <a:solidFill>
                  <a:srgbClr val="111A17"/>
                </a:solidFill>
                <a:latin typeface="Courier New" pitchFamily="34" charset="0"/>
                <a:ea typeface="Courier New" pitchFamily="34" charset="-122"/>
                <a:cs typeface="Courier New" pitchFamily="34" charset="-120"/>
              </a:rPr>
              <a:t>pod</a:t>
            </a:r>
            <a:endParaRPr lang="en-US" sz="1100" dirty="0"/>
          </a:p>
        </p:txBody>
      </p:sp>
      <p:sp>
        <p:nvSpPr>
          <p:cNvPr id="32" name="Shape 30"/>
          <p:cNvSpPr/>
          <p:nvPr/>
        </p:nvSpPr>
        <p:spPr>
          <a:xfrm>
            <a:off x="8522208" y="3364992"/>
            <a:ext cx="1298448" cy="658368"/>
          </a:xfrm>
          <a:prstGeom prst="roundRect">
            <a:avLst>
              <a:gd name="adj" fmla="val 13889"/>
            </a:avLst>
          </a:prstGeom>
          <a:solidFill>
            <a:srgbClr val="F7F9F8"/>
          </a:solidFill>
          <a:ln w="15875">
            <a:solidFill>
              <a:srgbClr val="2B45D9"/>
            </a:solidFill>
            <a:prstDash val="dash"/>
          </a:ln>
        </p:spPr>
      </p:sp>
      <p:sp>
        <p:nvSpPr>
          <p:cNvPr id="33" name="Text 31"/>
          <p:cNvSpPr txBox="1"/>
          <p:nvPr/>
        </p:nvSpPr>
        <p:spPr>
          <a:xfrm>
            <a:off x="8522208" y="3547872"/>
            <a:ext cx="1298448" cy="292608"/>
          </a:xfrm>
          <a:prstGeom prst="rect">
            <a:avLst/>
          </a:prstGeom>
          <a:noFill/>
          <a:ln/>
        </p:spPr>
        <p:txBody>
          <a:bodyPr wrap="square" lIns="0" tIns="0" rIns="0" bIns="0" rtlCol="0" anchor="ctr"/>
          <a:lstStyle/>
          <a:p>
            <a:pPr algn="ctr" indent="0" marL="0">
              <a:buNone/>
            </a:pPr>
            <a:r>
              <a:rPr lang="en-US" sz="1100" dirty="0">
                <a:solidFill>
                  <a:srgbClr val="2B45D9"/>
                </a:solidFill>
                <a:latin typeface="Courier New" pitchFamily="34" charset="0"/>
                <a:ea typeface="Courier New" pitchFamily="34" charset="-122"/>
                <a:cs typeface="Courier New" pitchFamily="34" charset="-120"/>
              </a:rPr>
              <a:t>pod</a:t>
            </a:r>
            <a:endParaRPr lang="en-US" sz="1100" dirty="0"/>
          </a:p>
        </p:txBody>
      </p:sp>
      <p:sp>
        <p:nvSpPr>
          <p:cNvPr id="34" name="Shape 32"/>
          <p:cNvSpPr/>
          <p:nvPr/>
        </p:nvSpPr>
        <p:spPr>
          <a:xfrm>
            <a:off x="8522208" y="4160520"/>
            <a:ext cx="1298448" cy="658368"/>
          </a:xfrm>
          <a:prstGeom prst="roundRect">
            <a:avLst>
              <a:gd name="adj" fmla="val 13889"/>
            </a:avLst>
          </a:prstGeom>
          <a:solidFill>
            <a:srgbClr val="F7F9F8"/>
          </a:solidFill>
          <a:ln w="15875">
            <a:solidFill>
              <a:srgbClr val="2B45D9"/>
            </a:solidFill>
            <a:prstDash val="dash"/>
          </a:ln>
        </p:spPr>
      </p:sp>
      <p:sp>
        <p:nvSpPr>
          <p:cNvPr id="35" name="Text 33"/>
          <p:cNvSpPr txBox="1"/>
          <p:nvPr/>
        </p:nvSpPr>
        <p:spPr>
          <a:xfrm>
            <a:off x="8522208" y="4343400"/>
            <a:ext cx="1298448" cy="292608"/>
          </a:xfrm>
          <a:prstGeom prst="rect">
            <a:avLst/>
          </a:prstGeom>
          <a:noFill/>
          <a:ln/>
        </p:spPr>
        <p:txBody>
          <a:bodyPr wrap="square" lIns="0" tIns="0" rIns="0" bIns="0" rtlCol="0" anchor="ctr"/>
          <a:lstStyle/>
          <a:p>
            <a:pPr algn="ctr" indent="0" marL="0">
              <a:buNone/>
            </a:pPr>
            <a:r>
              <a:rPr lang="en-US" sz="1100" dirty="0">
                <a:solidFill>
                  <a:srgbClr val="2B45D9"/>
                </a:solidFill>
                <a:latin typeface="Courier New" pitchFamily="34" charset="0"/>
                <a:ea typeface="Courier New" pitchFamily="34" charset="-122"/>
                <a:cs typeface="Courier New" pitchFamily="34" charset="-120"/>
              </a:rPr>
              <a:t>pod</a:t>
            </a:r>
            <a:endParaRPr lang="en-US" sz="1100" dirty="0"/>
          </a:p>
        </p:txBody>
      </p:sp>
      <p:sp>
        <p:nvSpPr>
          <p:cNvPr id="36" name="Shape 34"/>
          <p:cNvSpPr/>
          <p:nvPr/>
        </p:nvSpPr>
        <p:spPr>
          <a:xfrm>
            <a:off x="9957816" y="3364992"/>
            <a:ext cx="1298448" cy="658368"/>
          </a:xfrm>
          <a:prstGeom prst="roundRect">
            <a:avLst>
              <a:gd name="adj" fmla="val 13889"/>
            </a:avLst>
          </a:prstGeom>
          <a:solidFill>
            <a:srgbClr val="F7F9F8"/>
          </a:solidFill>
          <a:ln w="15875">
            <a:solidFill>
              <a:srgbClr val="2B45D9"/>
            </a:solidFill>
            <a:prstDash val="dash"/>
          </a:ln>
        </p:spPr>
      </p:sp>
      <p:sp>
        <p:nvSpPr>
          <p:cNvPr id="37" name="Text 35"/>
          <p:cNvSpPr txBox="1"/>
          <p:nvPr/>
        </p:nvSpPr>
        <p:spPr>
          <a:xfrm>
            <a:off x="9957816" y="3547872"/>
            <a:ext cx="1298448" cy="292608"/>
          </a:xfrm>
          <a:prstGeom prst="rect">
            <a:avLst/>
          </a:prstGeom>
          <a:noFill/>
          <a:ln/>
        </p:spPr>
        <p:txBody>
          <a:bodyPr wrap="square" lIns="0" tIns="0" rIns="0" bIns="0" rtlCol="0" anchor="ctr"/>
          <a:lstStyle/>
          <a:p>
            <a:pPr algn="ctr" indent="0" marL="0">
              <a:buNone/>
            </a:pPr>
            <a:r>
              <a:rPr lang="en-US" sz="1100" dirty="0">
                <a:solidFill>
                  <a:srgbClr val="2B45D9"/>
                </a:solidFill>
                <a:latin typeface="Courier New" pitchFamily="34" charset="0"/>
                <a:ea typeface="Courier New" pitchFamily="34" charset="-122"/>
                <a:cs typeface="Courier New" pitchFamily="34" charset="-120"/>
              </a:rPr>
              <a:t>pod</a:t>
            </a:r>
            <a:endParaRPr lang="en-US" sz="1100" dirty="0"/>
          </a:p>
        </p:txBody>
      </p:sp>
      <p:sp>
        <p:nvSpPr>
          <p:cNvPr id="38" name="Shape 36"/>
          <p:cNvSpPr/>
          <p:nvPr/>
        </p:nvSpPr>
        <p:spPr>
          <a:xfrm>
            <a:off x="9957816" y="4160520"/>
            <a:ext cx="1298448" cy="658368"/>
          </a:xfrm>
          <a:prstGeom prst="roundRect">
            <a:avLst>
              <a:gd name="adj" fmla="val 13889"/>
            </a:avLst>
          </a:prstGeom>
          <a:solidFill>
            <a:srgbClr val="F7F9F8"/>
          </a:solidFill>
          <a:ln w="15875">
            <a:solidFill>
              <a:srgbClr val="2B45D9"/>
            </a:solidFill>
            <a:prstDash val="dash"/>
          </a:ln>
        </p:spPr>
      </p:sp>
      <p:sp>
        <p:nvSpPr>
          <p:cNvPr id="39" name="Text 37"/>
          <p:cNvSpPr txBox="1"/>
          <p:nvPr/>
        </p:nvSpPr>
        <p:spPr>
          <a:xfrm>
            <a:off x="9957816" y="4343400"/>
            <a:ext cx="1298448" cy="292608"/>
          </a:xfrm>
          <a:prstGeom prst="rect">
            <a:avLst/>
          </a:prstGeom>
          <a:noFill/>
          <a:ln/>
        </p:spPr>
        <p:txBody>
          <a:bodyPr wrap="square" lIns="0" tIns="0" rIns="0" bIns="0" rtlCol="0" anchor="ctr"/>
          <a:lstStyle/>
          <a:p>
            <a:pPr algn="ctr" indent="0" marL="0">
              <a:buNone/>
            </a:pPr>
            <a:r>
              <a:rPr lang="en-US" sz="1100" dirty="0">
                <a:solidFill>
                  <a:srgbClr val="2B45D9"/>
                </a:solidFill>
                <a:latin typeface="Courier New" pitchFamily="34" charset="0"/>
                <a:ea typeface="Courier New" pitchFamily="34" charset="-122"/>
                <a:cs typeface="Courier New" pitchFamily="34" charset="-120"/>
              </a:rPr>
              <a:t>pod</a:t>
            </a:r>
            <a:endParaRPr lang="en-US" sz="1100" dirty="0"/>
          </a:p>
        </p:txBody>
      </p:sp>
      <p:sp>
        <p:nvSpPr>
          <p:cNvPr id="40" name="Text 38"/>
          <p:cNvSpPr txBox="1"/>
          <p:nvPr/>
        </p:nvSpPr>
        <p:spPr>
          <a:xfrm>
            <a:off x="7086600" y="4892040"/>
            <a:ext cx="4206240" cy="36576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Dashed pods are new. Each waits for readiness.</a:t>
            </a:r>
            <a:endParaRPr lang="en-US" sz="1300" dirty="0"/>
          </a:p>
        </p:txBody>
      </p:sp>
      <p:sp>
        <p:nvSpPr>
          <p:cNvPr id="41" name="Shape 39"/>
          <p:cNvSpPr/>
          <p:nvPr/>
        </p:nvSpPr>
        <p:spPr>
          <a:xfrm>
            <a:off x="731520" y="5870448"/>
            <a:ext cx="3383280" cy="0"/>
          </a:xfrm>
          <a:prstGeom prst="line">
            <a:avLst/>
          </a:prstGeom>
          <a:noFill/>
          <a:ln w="12700">
            <a:solidFill>
              <a:srgbClr val="C9D2CD"/>
            </a:solidFill>
            <a:prstDash val="solid"/>
          </a:ln>
        </p:spPr>
      </p:sp>
      <p:sp>
        <p:nvSpPr>
          <p:cNvPr id="42" name="Text 40"/>
          <p:cNvSpPr txBox="1"/>
          <p:nvPr/>
        </p:nvSpPr>
        <p:spPr>
          <a:xfrm>
            <a:off x="7315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Autoscaler: 2 to 6 pods on CPU</a:t>
            </a:r>
            <a:endParaRPr lang="en-US" sz="1300" dirty="0"/>
          </a:p>
        </p:txBody>
      </p:sp>
      <p:sp>
        <p:nvSpPr>
          <p:cNvPr id="43" name="Shape 41"/>
          <p:cNvSpPr/>
          <p:nvPr/>
        </p:nvSpPr>
        <p:spPr>
          <a:xfrm>
            <a:off x="4389120" y="5870448"/>
            <a:ext cx="3383280" cy="0"/>
          </a:xfrm>
          <a:prstGeom prst="line">
            <a:avLst/>
          </a:prstGeom>
          <a:noFill/>
          <a:ln w="12700">
            <a:solidFill>
              <a:srgbClr val="C9D2CD"/>
            </a:solidFill>
            <a:prstDash val="solid"/>
          </a:ln>
        </p:spPr>
      </p:sp>
      <p:sp>
        <p:nvSpPr>
          <p:cNvPr id="44" name="Text 42"/>
          <p:cNvSpPr txBox="1"/>
          <p:nvPr/>
        </p:nvSpPr>
        <p:spPr>
          <a:xfrm>
            <a:off x="43891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Readiness before any traffic</a:t>
            </a:r>
            <a:endParaRPr lang="en-US" sz="1300" dirty="0"/>
          </a:p>
        </p:txBody>
      </p:sp>
      <p:sp>
        <p:nvSpPr>
          <p:cNvPr id="45" name="Shape 43"/>
          <p:cNvSpPr/>
          <p:nvPr/>
        </p:nvSpPr>
        <p:spPr>
          <a:xfrm>
            <a:off x="8046720" y="5870448"/>
            <a:ext cx="3383280" cy="0"/>
          </a:xfrm>
          <a:prstGeom prst="line">
            <a:avLst/>
          </a:prstGeom>
          <a:noFill/>
          <a:ln w="12700">
            <a:solidFill>
              <a:srgbClr val="C9D2CD"/>
            </a:solidFill>
            <a:prstDash val="solid"/>
          </a:ln>
        </p:spPr>
      </p:sp>
      <p:sp>
        <p:nvSpPr>
          <p:cNvPr id="46" name="Text 44"/>
          <p:cNvSpPr txBox="1"/>
          <p:nvPr/>
        </p:nvSpPr>
        <p:spPr>
          <a:xfrm>
            <a:off x="8046720" y="5961888"/>
            <a:ext cx="3383280" cy="411480"/>
          </a:xfrm>
          <a:prstGeom prst="rect">
            <a:avLst/>
          </a:prstGeom>
          <a:noFill/>
          <a:ln/>
        </p:spPr>
        <p:txBody>
          <a:bodyPr wrap="square" lIns="0" tIns="0" rIns="0" bIns="0" rtlCol="0" anchor="ctr"/>
          <a:lstStyle/>
          <a:p>
            <a:pPr indent="0" marL="0">
              <a:buNone/>
            </a:pPr>
            <a:r>
              <a:rPr lang="en-US" sz="1300" dirty="0">
                <a:solidFill>
                  <a:srgbClr val="56625D"/>
                </a:solidFill>
                <a:latin typeface="Calibri" pitchFamily="34" charset="0"/>
                <a:ea typeface="Calibri" pitchFamily="34" charset="-122"/>
                <a:cs typeface="Calibri" pitchFamily="34" charset="-120"/>
              </a:rPr>
              <a:t>Self-healing: pods replace themselves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630936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Watch it scale</a:t>
            </a:r>
            <a:endParaRPr lang="en-US" sz="3200" dirty="0"/>
          </a:p>
        </p:txBody>
      </p:sp>
      <p:sp>
        <p:nvSpPr>
          <p:cNvPr id="3" name="Shape 1"/>
          <p:cNvSpPr/>
          <p:nvPr/>
        </p:nvSpPr>
        <p:spPr>
          <a:xfrm>
            <a:off x="7223760" y="457200"/>
            <a:ext cx="4206240" cy="411480"/>
          </a:xfrm>
          <a:prstGeom prst="roundRect">
            <a:avLst>
              <a:gd name="adj" fmla="val 17778"/>
            </a:avLst>
          </a:prstGeom>
          <a:solidFill>
            <a:srgbClr val="F5E6C6"/>
          </a:solidFill>
          <a:ln w="6350">
            <a:solidFill>
              <a:srgbClr val="F5E6C6"/>
            </a:solidFill>
            <a:prstDash val="solid"/>
          </a:ln>
        </p:spPr>
      </p:sp>
      <p:sp>
        <p:nvSpPr>
          <p:cNvPr id="4" name="Text 2"/>
          <p:cNvSpPr txBox="1"/>
          <p:nvPr/>
        </p:nvSpPr>
        <p:spPr>
          <a:xfrm>
            <a:off x="7223760" y="530352"/>
            <a:ext cx="4206240" cy="274320"/>
          </a:xfrm>
          <a:prstGeom prst="rect">
            <a:avLst/>
          </a:prstGeom>
          <a:noFill/>
          <a:ln/>
        </p:spPr>
        <p:txBody>
          <a:bodyPr wrap="square" lIns="0" tIns="0" rIns="0" bIns="0" rtlCol="0" anchor="ctr"/>
          <a:lstStyle/>
          <a:p>
            <a:pPr algn="ctr" indent="0" marL="0">
              <a:buNone/>
            </a:pPr>
            <a:r>
              <a:rPr lang="en-US" sz="900" spc="100" kern="0" dirty="0">
                <a:solidFill>
                  <a:srgbClr val="A8680A"/>
                </a:solidFill>
                <a:latin typeface="Courier New" pitchFamily="34" charset="0"/>
                <a:ea typeface="Courier New" pitchFamily="34" charset="-122"/>
                <a:cs typeface="Courier New" pitchFamily="34" charset="-120"/>
              </a:rPr>
              <a:t>SIMULATED CLUSTER — NOT A LIVE CLUSTER</a:t>
            </a:r>
            <a:endParaRPr lang="en-US" sz="900" dirty="0"/>
          </a:p>
        </p:txBody>
      </p:sp>
      <p:sp>
        <p:nvSpPr>
          <p:cNvPr id="5" name="Text 3"/>
          <p:cNvSpPr txBox="1"/>
          <p:nvPr/>
        </p:nvSpPr>
        <p:spPr>
          <a:xfrm>
            <a:off x="731520" y="1463040"/>
            <a:ext cx="2194560" cy="914400"/>
          </a:xfrm>
          <a:prstGeom prst="rect">
            <a:avLst/>
          </a:prstGeom>
          <a:noFill/>
          <a:ln/>
        </p:spPr>
        <p:txBody>
          <a:bodyPr wrap="square" lIns="0" tIns="0" rIns="0" bIns="0" rtlCol="0" anchor="ctr"/>
          <a:lstStyle/>
          <a:p>
            <a:pPr indent="0" marL="0">
              <a:buNone/>
            </a:pPr>
            <a:r>
              <a:rPr lang="en-US" sz="5400" b="1" dirty="0">
                <a:solidFill>
                  <a:srgbClr val="2B45D9"/>
                </a:solidFill>
                <a:latin typeface="Arial" pitchFamily="34" charset="0"/>
                <a:ea typeface="Arial" pitchFamily="34" charset="-122"/>
                <a:cs typeface="Arial" pitchFamily="34" charset="-120"/>
              </a:rPr>
              <a:t>236</a:t>
            </a:r>
            <a:endParaRPr lang="en-US" sz="5400" dirty="0"/>
          </a:p>
        </p:txBody>
      </p:sp>
      <p:sp>
        <p:nvSpPr>
          <p:cNvPr id="6" name="Text 4"/>
          <p:cNvSpPr txBox="1"/>
          <p:nvPr/>
        </p:nvSpPr>
        <p:spPr>
          <a:xfrm>
            <a:off x="777240" y="2377440"/>
            <a:ext cx="219456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requests / sec</a:t>
            </a:r>
            <a:endParaRPr lang="en-US" sz="1000" dirty="0"/>
          </a:p>
        </p:txBody>
      </p:sp>
      <p:sp>
        <p:nvSpPr>
          <p:cNvPr id="7" name="Shape 5"/>
          <p:cNvSpPr/>
          <p:nvPr/>
        </p:nvSpPr>
        <p:spPr>
          <a:xfrm>
            <a:off x="3291840" y="1783080"/>
            <a:ext cx="5486400" cy="310896"/>
          </a:xfrm>
          <a:prstGeom prst="roundRect">
            <a:avLst>
              <a:gd name="adj" fmla="val 50000"/>
            </a:avLst>
          </a:prstGeom>
          <a:solidFill>
            <a:srgbClr val="C9D2CD"/>
          </a:solidFill>
          <a:ln w="6350">
            <a:solidFill>
              <a:srgbClr val="C9D2CD"/>
            </a:solidFill>
            <a:prstDash val="solid"/>
          </a:ln>
        </p:spPr>
      </p:sp>
      <p:sp>
        <p:nvSpPr>
          <p:cNvPr id="8" name="Shape 6"/>
          <p:cNvSpPr/>
          <p:nvPr/>
        </p:nvSpPr>
        <p:spPr>
          <a:xfrm>
            <a:off x="3291840" y="1783080"/>
            <a:ext cx="3730752" cy="310896"/>
          </a:xfrm>
          <a:prstGeom prst="roundRect">
            <a:avLst>
              <a:gd name="adj" fmla="val 50000"/>
            </a:avLst>
          </a:prstGeom>
          <a:solidFill>
            <a:srgbClr val="2B45D9"/>
          </a:solidFill>
          <a:ln w="6350">
            <a:solidFill>
              <a:srgbClr val="2B45D9"/>
            </a:solidFill>
            <a:prstDash val="solid"/>
          </a:ln>
        </p:spPr>
      </p:sp>
      <p:sp>
        <p:nvSpPr>
          <p:cNvPr id="9" name="Text 7"/>
          <p:cNvSpPr txBox="1"/>
          <p:nvPr/>
        </p:nvSpPr>
        <p:spPr>
          <a:xfrm>
            <a:off x="3291840" y="2194560"/>
            <a:ext cx="548640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CPU 68% · target 70%</a:t>
            </a:r>
            <a:endParaRPr lang="en-US" sz="1000" dirty="0"/>
          </a:p>
        </p:txBody>
      </p:sp>
      <p:sp>
        <p:nvSpPr>
          <p:cNvPr id="10" name="Text 8"/>
          <p:cNvSpPr txBox="1"/>
          <p:nvPr/>
        </p:nvSpPr>
        <p:spPr>
          <a:xfrm>
            <a:off x="9509760" y="1463040"/>
            <a:ext cx="1920240" cy="914400"/>
          </a:xfrm>
          <a:prstGeom prst="rect">
            <a:avLst/>
          </a:prstGeom>
          <a:noFill/>
          <a:ln/>
        </p:spPr>
        <p:txBody>
          <a:bodyPr wrap="square" lIns="0" tIns="0" rIns="0" bIns="0" rtlCol="0" anchor="ctr"/>
          <a:lstStyle/>
          <a:p>
            <a:pPr indent="0" marL="0">
              <a:buNone/>
            </a:pPr>
            <a:r>
              <a:rPr lang="en-US" sz="5400" b="1" dirty="0">
                <a:solidFill>
                  <a:srgbClr val="2B45D9"/>
                </a:solidFill>
                <a:latin typeface="Arial" pitchFamily="34" charset="0"/>
                <a:ea typeface="Arial" pitchFamily="34" charset="-122"/>
                <a:cs typeface="Arial" pitchFamily="34" charset="-120"/>
              </a:rPr>
              <a:t>6</a:t>
            </a:r>
            <a:endParaRPr lang="en-US" sz="5400" dirty="0"/>
          </a:p>
        </p:txBody>
      </p:sp>
      <p:sp>
        <p:nvSpPr>
          <p:cNvPr id="11" name="Text 9"/>
          <p:cNvSpPr txBox="1"/>
          <p:nvPr/>
        </p:nvSpPr>
        <p:spPr>
          <a:xfrm>
            <a:off x="9555480" y="2377440"/>
            <a:ext cx="1920240" cy="27432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pods (min 2, max 6)</a:t>
            </a:r>
            <a:endParaRPr lang="en-US" sz="1000" dirty="0"/>
          </a:p>
        </p:txBody>
      </p:sp>
      <p:sp>
        <p:nvSpPr>
          <p:cNvPr id="12" name="Shape 10"/>
          <p:cNvSpPr/>
          <p:nvPr/>
        </p:nvSpPr>
        <p:spPr>
          <a:xfrm>
            <a:off x="731520" y="3017520"/>
            <a:ext cx="1645920" cy="1051560"/>
          </a:xfrm>
          <a:prstGeom prst="roundRect">
            <a:avLst>
              <a:gd name="adj" fmla="val 8696"/>
            </a:avLst>
          </a:prstGeom>
          <a:solidFill>
            <a:srgbClr val="DDE3FB"/>
          </a:solidFill>
          <a:ln w="15875">
            <a:solidFill>
              <a:srgbClr val="2B45D9"/>
            </a:solidFill>
            <a:prstDash val="solid"/>
          </a:ln>
        </p:spPr>
      </p:sp>
      <p:sp>
        <p:nvSpPr>
          <p:cNvPr id="13" name="Text 11"/>
          <p:cNvSpPr txBox="1"/>
          <p:nvPr/>
        </p:nvSpPr>
        <p:spPr>
          <a:xfrm>
            <a:off x="896112" y="3200400"/>
            <a:ext cx="1371600" cy="274320"/>
          </a:xfrm>
          <a:prstGeom prst="rect">
            <a:avLst/>
          </a:prstGeom>
          <a:noFill/>
          <a:ln/>
        </p:spPr>
        <p:txBody>
          <a:bodyPr wrap="square" lIns="0" tIns="0" rIns="0" bIns="0" rtlCol="0" anchor="ctr"/>
          <a:lstStyle/>
          <a:p>
            <a:pPr indent="0" marL="0">
              <a:buNone/>
            </a:pPr>
            <a:r>
              <a:rPr lang="en-US" sz="1000" b="1" dirty="0">
                <a:solidFill>
                  <a:srgbClr val="111A17"/>
                </a:solidFill>
                <a:latin typeface="Courier New" pitchFamily="34" charset="0"/>
                <a:ea typeface="Courier New" pitchFamily="34" charset="-122"/>
                <a:cs typeface="Courier New" pitchFamily="34" charset="-120"/>
              </a:rPr>
              <a:t>pod-01</a:t>
            </a:r>
            <a:endParaRPr lang="en-US" sz="1000" dirty="0"/>
          </a:p>
        </p:txBody>
      </p:sp>
      <p:sp>
        <p:nvSpPr>
          <p:cNvPr id="14" name="Text 12"/>
          <p:cNvSpPr txBox="1"/>
          <p:nvPr/>
        </p:nvSpPr>
        <p:spPr>
          <a:xfrm>
            <a:off x="896112" y="3493008"/>
            <a:ext cx="1371600" cy="411480"/>
          </a:xfrm>
          <a:prstGeom prst="rect">
            <a:avLst/>
          </a:prstGeom>
          <a:noFill/>
          <a:ln/>
        </p:spPr>
        <p:txBody>
          <a:bodyPr wrap="square" lIns="0" tIns="0" rIns="0" bIns="0" rtlCol="0" anchor="ctr"/>
          <a:lstStyle/>
          <a:p>
            <a:pPr indent="0" marL="0">
              <a:buNone/>
            </a:pPr>
            <a:r>
              <a:rPr lang="en-US" sz="800" dirty="0">
                <a:solidFill>
                  <a:srgbClr val="56625D"/>
                </a:solidFill>
                <a:latin typeface="Courier New" pitchFamily="34" charset="0"/>
                <a:ea typeface="Courier New" pitchFamily="34" charset="-122"/>
                <a:cs typeface="Courier New" pitchFamily="34" charset="-120"/>
              </a:rPr>
              <a:t>252 decisions</a:t>
            </a:r>
            <a:endParaRPr lang="en-US" sz="800" dirty="0"/>
          </a:p>
        </p:txBody>
      </p:sp>
      <p:sp>
        <p:nvSpPr>
          <p:cNvPr id="15" name="Shape 13"/>
          <p:cNvSpPr/>
          <p:nvPr/>
        </p:nvSpPr>
        <p:spPr>
          <a:xfrm>
            <a:off x="2532888" y="3017520"/>
            <a:ext cx="1645920" cy="1051560"/>
          </a:xfrm>
          <a:prstGeom prst="roundRect">
            <a:avLst>
              <a:gd name="adj" fmla="val 8696"/>
            </a:avLst>
          </a:prstGeom>
          <a:solidFill>
            <a:srgbClr val="DDE3FB"/>
          </a:solidFill>
          <a:ln w="15875">
            <a:solidFill>
              <a:srgbClr val="2B45D9"/>
            </a:solidFill>
            <a:prstDash val="solid"/>
          </a:ln>
        </p:spPr>
      </p:sp>
      <p:sp>
        <p:nvSpPr>
          <p:cNvPr id="16" name="Text 14"/>
          <p:cNvSpPr txBox="1"/>
          <p:nvPr/>
        </p:nvSpPr>
        <p:spPr>
          <a:xfrm>
            <a:off x="2697480" y="3200400"/>
            <a:ext cx="1371600" cy="274320"/>
          </a:xfrm>
          <a:prstGeom prst="rect">
            <a:avLst/>
          </a:prstGeom>
          <a:noFill/>
          <a:ln/>
        </p:spPr>
        <p:txBody>
          <a:bodyPr wrap="square" lIns="0" tIns="0" rIns="0" bIns="0" rtlCol="0" anchor="ctr"/>
          <a:lstStyle/>
          <a:p>
            <a:pPr indent="0" marL="0">
              <a:buNone/>
            </a:pPr>
            <a:r>
              <a:rPr lang="en-US" sz="1000" b="1" dirty="0">
                <a:solidFill>
                  <a:srgbClr val="111A17"/>
                </a:solidFill>
                <a:latin typeface="Courier New" pitchFamily="34" charset="0"/>
                <a:ea typeface="Courier New" pitchFamily="34" charset="-122"/>
                <a:cs typeface="Courier New" pitchFamily="34" charset="-120"/>
              </a:rPr>
              <a:t>pod-02</a:t>
            </a:r>
            <a:endParaRPr lang="en-US" sz="1000" dirty="0"/>
          </a:p>
        </p:txBody>
      </p:sp>
      <p:sp>
        <p:nvSpPr>
          <p:cNvPr id="17" name="Text 15"/>
          <p:cNvSpPr txBox="1"/>
          <p:nvPr/>
        </p:nvSpPr>
        <p:spPr>
          <a:xfrm>
            <a:off x="2697480" y="3493008"/>
            <a:ext cx="1371600" cy="411480"/>
          </a:xfrm>
          <a:prstGeom prst="rect">
            <a:avLst/>
          </a:prstGeom>
          <a:noFill/>
          <a:ln/>
        </p:spPr>
        <p:txBody>
          <a:bodyPr wrap="square" lIns="0" tIns="0" rIns="0" bIns="0" rtlCol="0" anchor="ctr"/>
          <a:lstStyle/>
          <a:p>
            <a:pPr indent="0" marL="0">
              <a:buNone/>
            </a:pPr>
            <a:r>
              <a:rPr lang="en-US" sz="800" dirty="0">
                <a:solidFill>
                  <a:srgbClr val="56625D"/>
                </a:solidFill>
                <a:latin typeface="Courier New" pitchFamily="34" charset="0"/>
                <a:ea typeface="Courier New" pitchFamily="34" charset="-122"/>
                <a:cs typeface="Courier New" pitchFamily="34" charset="-120"/>
              </a:rPr>
              <a:t>252 decisions</a:t>
            </a:r>
            <a:endParaRPr lang="en-US" sz="800" dirty="0"/>
          </a:p>
        </p:txBody>
      </p:sp>
      <p:sp>
        <p:nvSpPr>
          <p:cNvPr id="18" name="Shape 16"/>
          <p:cNvSpPr/>
          <p:nvPr/>
        </p:nvSpPr>
        <p:spPr>
          <a:xfrm>
            <a:off x="4334256" y="3017520"/>
            <a:ext cx="1645920" cy="1051560"/>
          </a:xfrm>
          <a:prstGeom prst="roundRect">
            <a:avLst>
              <a:gd name="adj" fmla="val 8696"/>
            </a:avLst>
          </a:prstGeom>
          <a:solidFill>
            <a:srgbClr val="DDE3FB"/>
          </a:solidFill>
          <a:ln w="15875">
            <a:solidFill>
              <a:srgbClr val="2B45D9"/>
            </a:solidFill>
            <a:prstDash val="solid"/>
          </a:ln>
        </p:spPr>
      </p:sp>
      <p:sp>
        <p:nvSpPr>
          <p:cNvPr id="19" name="Text 17"/>
          <p:cNvSpPr txBox="1"/>
          <p:nvPr/>
        </p:nvSpPr>
        <p:spPr>
          <a:xfrm>
            <a:off x="4498848" y="3200400"/>
            <a:ext cx="1371600" cy="274320"/>
          </a:xfrm>
          <a:prstGeom prst="rect">
            <a:avLst/>
          </a:prstGeom>
          <a:noFill/>
          <a:ln/>
        </p:spPr>
        <p:txBody>
          <a:bodyPr wrap="square" lIns="0" tIns="0" rIns="0" bIns="0" rtlCol="0" anchor="ctr"/>
          <a:lstStyle/>
          <a:p>
            <a:pPr indent="0" marL="0">
              <a:buNone/>
            </a:pPr>
            <a:r>
              <a:rPr lang="en-US" sz="1000" b="1" dirty="0">
                <a:solidFill>
                  <a:srgbClr val="111A17"/>
                </a:solidFill>
                <a:latin typeface="Courier New" pitchFamily="34" charset="0"/>
                <a:ea typeface="Courier New" pitchFamily="34" charset="-122"/>
                <a:cs typeface="Courier New" pitchFamily="34" charset="-120"/>
              </a:rPr>
              <a:t>pod-03</a:t>
            </a:r>
            <a:endParaRPr lang="en-US" sz="1000" dirty="0"/>
          </a:p>
        </p:txBody>
      </p:sp>
      <p:sp>
        <p:nvSpPr>
          <p:cNvPr id="20" name="Text 18"/>
          <p:cNvSpPr txBox="1"/>
          <p:nvPr/>
        </p:nvSpPr>
        <p:spPr>
          <a:xfrm>
            <a:off x="4498848" y="3493008"/>
            <a:ext cx="1371600" cy="411480"/>
          </a:xfrm>
          <a:prstGeom prst="rect">
            <a:avLst/>
          </a:prstGeom>
          <a:noFill/>
          <a:ln/>
        </p:spPr>
        <p:txBody>
          <a:bodyPr wrap="square" lIns="0" tIns="0" rIns="0" bIns="0" rtlCol="0" anchor="ctr"/>
          <a:lstStyle/>
          <a:p>
            <a:pPr indent="0" marL="0">
              <a:buNone/>
            </a:pPr>
            <a:r>
              <a:rPr lang="en-US" sz="800" dirty="0">
                <a:solidFill>
                  <a:srgbClr val="56625D"/>
                </a:solidFill>
                <a:latin typeface="Courier New" pitchFamily="34" charset="0"/>
                <a:ea typeface="Courier New" pitchFamily="34" charset="-122"/>
                <a:cs typeface="Courier New" pitchFamily="34" charset="-120"/>
              </a:rPr>
              <a:t>95 decisions</a:t>
            </a:r>
            <a:endParaRPr lang="en-US" sz="800" dirty="0"/>
          </a:p>
        </p:txBody>
      </p:sp>
      <p:sp>
        <p:nvSpPr>
          <p:cNvPr id="21" name="Shape 19"/>
          <p:cNvSpPr/>
          <p:nvPr/>
        </p:nvSpPr>
        <p:spPr>
          <a:xfrm>
            <a:off x="6135624" y="3017520"/>
            <a:ext cx="1645920" cy="1051560"/>
          </a:xfrm>
          <a:prstGeom prst="roundRect">
            <a:avLst>
              <a:gd name="adj" fmla="val 8696"/>
            </a:avLst>
          </a:prstGeom>
          <a:solidFill>
            <a:srgbClr val="DDE3FB"/>
          </a:solidFill>
          <a:ln w="15875">
            <a:solidFill>
              <a:srgbClr val="2B45D9"/>
            </a:solidFill>
            <a:prstDash val="solid"/>
          </a:ln>
        </p:spPr>
      </p:sp>
      <p:sp>
        <p:nvSpPr>
          <p:cNvPr id="22" name="Text 20"/>
          <p:cNvSpPr txBox="1"/>
          <p:nvPr/>
        </p:nvSpPr>
        <p:spPr>
          <a:xfrm>
            <a:off x="6300216" y="3200400"/>
            <a:ext cx="1371600" cy="274320"/>
          </a:xfrm>
          <a:prstGeom prst="rect">
            <a:avLst/>
          </a:prstGeom>
          <a:noFill/>
          <a:ln/>
        </p:spPr>
        <p:txBody>
          <a:bodyPr wrap="square" lIns="0" tIns="0" rIns="0" bIns="0" rtlCol="0" anchor="ctr"/>
          <a:lstStyle/>
          <a:p>
            <a:pPr indent="0" marL="0">
              <a:buNone/>
            </a:pPr>
            <a:r>
              <a:rPr lang="en-US" sz="1000" b="1" dirty="0">
                <a:solidFill>
                  <a:srgbClr val="111A17"/>
                </a:solidFill>
                <a:latin typeface="Courier New" pitchFamily="34" charset="0"/>
                <a:ea typeface="Courier New" pitchFamily="34" charset="-122"/>
                <a:cs typeface="Courier New" pitchFamily="34" charset="-120"/>
              </a:rPr>
              <a:t>pod-04</a:t>
            </a:r>
            <a:endParaRPr lang="en-US" sz="1000" dirty="0"/>
          </a:p>
        </p:txBody>
      </p:sp>
      <p:sp>
        <p:nvSpPr>
          <p:cNvPr id="23" name="Text 21"/>
          <p:cNvSpPr txBox="1"/>
          <p:nvPr/>
        </p:nvSpPr>
        <p:spPr>
          <a:xfrm>
            <a:off x="6300216" y="3493008"/>
            <a:ext cx="1371600" cy="411480"/>
          </a:xfrm>
          <a:prstGeom prst="rect">
            <a:avLst/>
          </a:prstGeom>
          <a:noFill/>
          <a:ln/>
        </p:spPr>
        <p:txBody>
          <a:bodyPr wrap="square" lIns="0" tIns="0" rIns="0" bIns="0" rtlCol="0" anchor="ctr"/>
          <a:lstStyle/>
          <a:p>
            <a:pPr indent="0" marL="0">
              <a:buNone/>
            </a:pPr>
            <a:r>
              <a:rPr lang="en-US" sz="800" dirty="0">
                <a:solidFill>
                  <a:srgbClr val="56625D"/>
                </a:solidFill>
                <a:latin typeface="Courier New" pitchFamily="34" charset="0"/>
                <a:ea typeface="Courier New" pitchFamily="34" charset="-122"/>
                <a:cs typeface="Courier New" pitchFamily="34" charset="-120"/>
              </a:rPr>
              <a:t>52 decisions</a:t>
            </a:r>
            <a:endParaRPr lang="en-US" sz="800" dirty="0"/>
          </a:p>
        </p:txBody>
      </p:sp>
      <p:sp>
        <p:nvSpPr>
          <p:cNvPr id="24" name="Shape 22"/>
          <p:cNvSpPr/>
          <p:nvPr/>
        </p:nvSpPr>
        <p:spPr>
          <a:xfrm>
            <a:off x="7936992" y="3017520"/>
            <a:ext cx="1645920" cy="1051560"/>
          </a:xfrm>
          <a:prstGeom prst="roundRect">
            <a:avLst>
              <a:gd name="adj" fmla="val 8696"/>
            </a:avLst>
          </a:prstGeom>
          <a:solidFill>
            <a:srgbClr val="DDE3FB"/>
          </a:solidFill>
          <a:ln w="15875">
            <a:solidFill>
              <a:srgbClr val="2B45D9"/>
            </a:solidFill>
            <a:prstDash val="solid"/>
          </a:ln>
        </p:spPr>
      </p:sp>
      <p:sp>
        <p:nvSpPr>
          <p:cNvPr id="25" name="Text 23"/>
          <p:cNvSpPr txBox="1"/>
          <p:nvPr/>
        </p:nvSpPr>
        <p:spPr>
          <a:xfrm>
            <a:off x="8101584" y="3200400"/>
            <a:ext cx="1371600" cy="274320"/>
          </a:xfrm>
          <a:prstGeom prst="rect">
            <a:avLst/>
          </a:prstGeom>
          <a:noFill/>
          <a:ln/>
        </p:spPr>
        <p:txBody>
          <a:bodyPr wrap="square" lIns="0" tIns="0" rIns="0" bIns="0" rtlCol="0" anchor="ctr"/>
          <a:lstStyle/>
          <a:p>
            <a:pPr indent="0" marL="0">
              <a:buNone/>
            </a:pPr>
            <a:r>
              <a:rPr lang="en-US" sz="1000" b="1" dirty="0">
                <a:solidFill>
                  <a:srgbClr val="111A17"/>
                </a:solidFill>
                <a:latin typeface="Courier New" pitchFamily="34" charset="0"/>
                <a:ea typeface="Courier New" pitchFamily="34" charset="-122"/>
                <a:cs typeface="Courier New" pitchFamily="34" charset="-120"/>
              </a:rPr>
              <a:t>pod-05</a:t>
            </a:r>
            <a:endParaRPr lang="en-US" sz="1000" dirty="0"/>
          </a:p>
        </p:txBody>
      </p:sp>
      <p:sp>
        <p:nvSpPr>
          <p:cNvPr id="26" name="Text 24"/>
          <p:cNvSpPr txBox="1"/>
          <p:nvPr/>
        </p:nvSpPr>
        <p:spPr>
          <a:xfrm>
            <a:off x="8101584" y="3493008"/>
            <a:ext cx="1371600" cy="411480"/>
          </a:xfrm>
          <a:prstGeom prst="rect">
            <a:avLst/>
          </a:prstGeom>
          <a:noFill/>
          <a:ln/>
        </p:spPr>
        <p:txBody>
          <a:bodyPr wrap="square" lIns="0" tIns="0" rIns="0" bIns="0" rtlCol="0" anchor="ctr"/>
          <a:lstStyle/>
          <a:p>
            <a:pPr indent="0" marL="0">
              <a:buNone/>
            </a:pPr>
            <a:r>
              <a:rPr lang="en-US" sz="800" dirty="0">
                <a:solidFill>
                  <a:srgbClr val="56625D"/>
                </a:solidFill>
                <a:latin typeface="Courier New" pitchFamily="34" charset="0"/>
                <a:ea typeface="Courier New" pitchFamily="34" charset="-122"/>
                <a:cs typeface="Courier New" pitchFamily="34" charset="-120"/>
              </a:rPr>
              <a:t>23 decisions</a:t>
            </a:r>
            <a:endParaRPr lang="en-US" sz="800" dirty="0"/>
          </a:p>
        </p:txBody>
      </p:sp>
      <p:sp>
        <p:nvSpPr>
          <p:cNvPr id="27" name="Shape 25"/>
          <p:cNvSpPr/>
          <p:nvPr/>
        </p:nvSpPr>
        <p:spPr>
          <a:xfrm>
            <a:off x="9738360" y="3017520"/>
            <a:ext cx="1645920" cy="1051560"/>
          </a:xfrm>
          <a:prstGeom prst="roundRect">
            <a:avLst>
              <a:gd name="adj" fmla="val 8696"/>
            </a:avLst>
          </a:prstGeom>
          <a:solidFill>
            <a:srgbClr val="F7F9F8"/>
          </a:solidFill>
          <a:ln w="15875">
            <a:solidFill>
              <a:srgbClr val="2B45D9"/>
            </a:solidFill>
            <a:prstDash val="dash"/>
          </a:ln>
        </p:spPr>
      </p:sp>
      <p:sp>
        <p:nvSpPr>
          <p:cNvPr id="28" name="Text 26"/>
          <p:cNvSpPr txBox="1"/>
          <p:nvPr/>
        </p:nvSpPr>
        <p:spPr>
          <a:xfrm>
            <a:off x="9902952" y="3200400"/>
            <a:ext cx="1371600" cy="274320"/>
          </a:xfrm>
          <a:prstGeom prst="rect">
            <a:avLst/>
          </a:prstGeom>
          <a:noFill/>
          <a:ln/>
        </p:spPr>
        <p:txBody>
          <a:bodyPr wrap="square" lIns="0" tIns="0" rIns="0" bIns="0" rtlCol="0" anchor="ctr"/>
          <a:lstStyle/>
          <a:p>
            <a:pPr indent="0" marL="0">
              <a:buNone/>
            </a:pPr>
            <a:r>
              <a:rPr lang="en-US" sz="1000" b="1" dirty="0">
                <a:solidFill>
                  <a:srgbClr val="111A17"/>
                </a:solidFill>
                <a:latin typeface="Courier New" pitchFamily="34" charset="0"/>
                <a:ea typeface="Courier New" pitchFamily="34" charset="-122"/>
                <a:cs typeface="Courier New" pitchFamily="34" charset="-120"/>
              </a:rPr>
              <a:t>pod-06</a:t>
            </a:r>
            <a:endParaRPr lang="en-US" sz="1000" dirty="0"/>
          </a:p>
        </p:txBody>
      </p:sp>
      <p:sp>
        <p:nvSpPr>
          <p:cNvPr id="29" name="Text 27"/>
          <p:cNvSpPr txBox="1"/>
          <p:nvPr/>
        </p:nvSpPr>
        <p:spPr>
          <a:xfrm>
            <a:off x="9902952" y="3493008"/>
            <a:ext cx="1371600" cy="411480"/>
          </a:xfrm>
          <a:prstGeom prst="rect">
            <a:avLst/>
          </a:prstGeom>
          <a:noFill/>
          <a:ln/>
        </p:spPr>
        <p:txBody>
          <a:bodyPr wrap="square" lIns="0" tIns="0" rIns="0" bIns="0" rtlCol="0" anchor="ctr"/>
          <a:lstStyle/>
          <a:p>
            <a:pPr indent="0" marL="0">
              <a:buNone/>
            </a:pPr>
            <a:r>
              <a:rPr lang="en-US" sz="800" dirty="0">
                <a:solidFill>
                  <a:srgbClr val="56625D"/>
                </a:solidFill>
                <a:latin typeface="Courier New" pitchFamily="34" charset="0"/>
                <a:ea typeface="Courier New" pitchFamily="34" charset="-122"/>
                <a:cs typeface="Courier New" pitchFamily="34" charset="-120"/>
              </a:rPr>
              <a:t>loading policies…</a:t>
            </a:r>
            <a:endParaRPr lang="en-US" sz="800" dirty="0"/>
          </a:p>
        </p:txBody>
      </p:sp>
      <p:sp>
        <p:nvSpPr>
          <p:cNvPr id="30" name="Text 28"/>
          <p:cNvSpPr txBox="1"/>
          <p:nvPr/>
        </p:nvSpPr>
        <p:spPr>
          <a:xfrm>
            <a:off x="731520" y="4480560"/>
            <a:ext cx="10698480" cy="365760"/>
          </a:xfrm>
          <a:prstGeom prst="rect">
            <a:avLst/>
          </a:prstGeom>
          <a:noFill/>
          <a:ln/>
        </p:spPr>
        <p:txBody>
          <a:bodyPr wrap="square" lIns="0" tIns="0" rIns="0" bIns="0" rtlCol="0" anchor="ctr"/>
          <a:lstStyle/>
          <a:p>
            <a:pPr indent="0" marL="0">
              <a:buNone/>
            </a:pPr>
            <a:r>
              <a:rPr lang="en-US" sz="1700" b="1" dirty="0">
                <a:solidFill>
                  <a:srgbClr val="111A17"/>
                </a:solidFill>
                <a:latin typeface="Arial" pitchFamily="34" charset="0"/>
                <a:ea typeface="Arial" pitchFamily="34" charset="-122"/>
                <a:cs typeface="Arial" pitchFamily="34" charset="-120"/>
              </a:rPr>
              <a:t>Kill a pod and a replacement appears — and waits for readiness before it takes traffic.</a:t>
            </a:r>
            <a:endParaRPr lang="en-US" sz="1700" dirty="0"/>
          </a:p>
        </p:txBody>
      </p:sp>
      <p:sp>
        <p:nvSpPr>
          <p:cNvPr id="31" name="Text 29"/>
          <p:cNvSpPr txBox="1"/>
          <p:nvPr/>
        </p:nvSpPr>
        <p:spPr>
          <a:xfrm>
            <a:off x="731520" y="5440680"/>
            <a:ext cx="10698480" cy="365760"/>
          </a:xfrm>
          <a:prstGeom prst="rect">
            <a:avLst/>
          </a:prstGeom>
          <a:noFill/>
          <a:ln/>
        </p:spPr>
        <p:txBody>
          <a:bodyPr wrap="square" lIns="0" tIns="0" rIns="0" bIns="0" rtlCol="0" anchor="ctr"/>
          <a:lstStyle/>
          <a:p>
            <a:pPr indent="0" marL="0">
              <a:buNone/>
            </a:pPr>
            <a:r>
              <a:rPr lang="en-US" sz="1000" dirty="0">
                <a:solidFill>
                  <a:srgbClr val="56625D"/>
                </a:solidFill>
                <a:latin typeface="Courier New" pitchFamily="34" charset="0"/>
                <a:ea typeface="Courier New" pitchFamily="34" charset="-122"/>
                <a:cs typeface="Courier New" pitchFamily="34" charset="-120"/>
              </a:rPr>
              <a:t>This runs live in the web deck: mini-ise.vercel.app/#/slides/13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8"/>
        </a:solidFill>
      </p:bgPr>
    </p:bg>
    <p:spTree>
      <p:nvGrpSpPr>
        <p:cNvPr id="1" name=""/>
        <p:cNvGrpSpPr/>
        <p:nvPr/>
      </p:nvGrpSpPr>
      <p:grpSpPr>
        <a:xfrm>
          <a:off x="0" y="0"/>
          <a:ext cx="0" cy="0"/>
          <a:chOff x="0" y="0"/>
          <a:chExt cx="0" cy="0"/>
        </a:xfrm>
      </p:grpSpPr>
      <p:sp>
        <p:nvSpPr>
          <p:cNvPr id="2" name="Text 0"/>
          <p:cNvSpPr txBox="1"/>
          <p:nvPr/>
        </p:nvSpPr>
        <p:spPr>
          <a:xfrm>
            <a:off x="731520" y="384048"/>
            <a:ext cx="10698480" cy="731520"/>
          </a:xfrm>
          <a:prstGeom prst="rect">
            <a:avLst/>
          </a:prstGeom>
          <a:noFill/>
          <a:ln/>
        </p:spPr>
        <p:txBody>
          <a:bodyPr wrap="square" lIns="0" tIns="0" rIns="0" bIns="0" rtlCol="0" anchor="ctr"/>
          <a:lstStyle/>
          <a:p>
            <a:pPr indent="0" marL="0">
              <a:buNone/>
            </a:pPr>
            <a:r>
              <a:rPr lang="en-US" sz="3200" b="1" dirty="0">
                <a:solidFill>
                  <a:srgbClr val="111A17"/>
                </a:solidFill>
                <a:latin typeface="Arial" pitchFamily="34" charset="0"/>
                <a:ea typeface="Arial" pitchFamily="34" charset="-122"/>
                <a:cs typeface="Arial" pitchFamily="34" charset="-120"/>
              </a:rPr>
              <a:t>What doesn’t scale out — and what I’d do about it</a:t>
            </a:r>
            <a:endParaRPr lang="en-US" sz="3200" dirty="0"/>
          </a:p>
        </p:txBody>
      </p:sp>
      <p:sp>
        <p:nvSpPr>
          <p:cNvPr id="3" name="Text 1"/>
          <p:cNvSpPr txBox="1"/>
          <p:nvPr/>
        </p:nvSpPr>
        <p:spPr>
          <a:xfrm>
            <a:off x="731520" y="1554480"/>
            <a:ext cx="6035040" cy="292608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111A17"/>
                </a:solidFill>
                <a:latin typeface="Calibri" pitchFamily="34" charset="0"/>
                <a:ea typeface="Calibri" pitchFamily="34" charset="-122"/>
                <a:cs typeface="Calibri" pitchFamily="34" charset="-120"/>
              </a:rPr>
              <a:t>Postgres is a single instance, and the only stateful thing here</a:t>
            </a:r>
            <a:endParaRPr lang="en-US" sz="1600" dirty="0"/>
          </a:p>
          <a:p>
            <a:pPr marL="342900" indent="-342900">
              <a:spcAft>
                <a:spcPts val="1000"/>
              </a:spcAft>
              <a:buSzPct val="100000"/>
              <a:buChar char="•"/>
            </a:pPr>
            <a:r>
              <a:rPr lang="en-US" sz="1600" dirty="0">
                <a:solidFill>
                  <a:srgbClr val="111A17"/>
                </a:solidFill>
                <a:latin typeface="Calibri" pitchFamily="34" charset="0"/>
                <a:ea typeface="Calibri" pitchFamily="34" charset="-122"/>
                <a:cs typeface="Calibri" pitchFamily="34" charset="-120"/>
              </a:rPr>
              <a:t>So it sits off the critical path: no reads, no writes on the hot path</a:t>
            </a:r>
            <a:endParaRPr lang="en-US" sz="1600" dirty="0"/>
          </a:p>
          <a:p>
            <a:pPr marL="342900" indent="-342900">
              <a:spcAft>
                <a:spcPts val="1000"/>
              </a:spcAft>
              <a:buSzPct val="100000"/>
              <a:buChar char="•"/>
            </a:pPr>
            <a:r>
              <a:rPr lang="en-US" sz="1600" dirty="0">
                <a:solidFill>
                  <a:srgbClr val="111A17"/>
                </a:solidFill>
                <a:latin typeface="Calibri" pitchFamily="34" charset="0"/>
                <a:ea typeface="Calibri" pitchFamily="34" charset="-122"/>
                <a:cs typeface="Calibri" pitchFamily="34" charset="-120"/>
              </a:rPr>
              <a:t>Database gone, devices still get on. The audit log just lags.</a:t>
            </a:r>
            <a:endParaRPr lang="en-US" sz="1600" dirty="0"/>
          </a:p>
          <a:p>
            <a:pPr marL="342900" indent="-342900">
              <a:spcAft>
                <a:spcPts val="1000"/>
              </a:spcAft>
              <a:buSzPct val="100000"/>
              <a:buChar char="•"/>
            </a:pPr>
            <a:r>
              <a:rPr lang="en-US" sz="1600" dirty="0">
                <a:solidFill>
                  <a:srgbClr val="111A17"/>
                </a:solidFill>
                <a:latin typeface="Calibri" pitchFamily="34" charset="0"/>
                <a:ea typeface="Calibri" pitchFamily="34" charset="-122"/>
                <a:cs typeface="Calibri" pitchFamily="34" charset="-120"/>
              </a:rPr>
              <a:t>Not sharding — splitting the data across machines. That is a last resort.</a:t>
            </a:r>
            <a:endParaRPr lang="en-US" sz="1600" dirty="0"/>
          </a:p>
        </p:txBody>
      </p:sp>
      <p:sp>
        <p:nvSpPr>
          <p:cNvPr id="4" name="Shape 2"/>
          <p:cNvSpPr/>
          <p:nvPr/>
        </p:nvSpPr>
        <p:spPr>
          <a:xfrm>
            <a:off x="7223760" y="1463040"/>
            <a:ext cx="4206240" cy="2926080"/>
          </a:xfrm>
          <a:prstGeom prst="roundRect">
            <a:avLst>
              <a:gd name="adj" fmla="val 3125"/>
            </a:avLst>
          </a:prstGeom>
          <a:solidFill>
            <a:srgbClr val="E9EDEA"/>
          </a:solidFill>
          <a:ln w="12700">
            <a:solidFill>
              <a:srgbClr val="C9D2CD"/>
            </a:solidFill>
            <a:prstDash val="solid"/>
          </a:ln>
        </p:spPr>
      </p:sp>
      <p:sp>
        <p:nvSpPr>
          <p:cNvPr id="5" name="Text 3"/>
          <p:cNvSpPr txBox="1"/>
          <p:nvPr/>
        </p:nvSpPr>
        <p:spPr>
          <a:xfrm>
            <a:off x="7498080" y="1691640"/>
            <a:ext cx="3657600" cy="274320"/>
          </a:xfrm>
          <a:prstGeom prst="rect">
            <a:avLst/>
          </a:prstGeom>
          <a:noFill/>
          <a:ln/>
        </p:spPr>
        <p:txBody>
          <a:bodyPr wrap="square" lIns="0" tIns="0" rIns="0" bIns="0" rtlCol="0" anchor="ctr"/>
          <a:lstStyle/>
          <a:p>
            <a:pPr indent="0" marL="0">
              <a:buNone/>
            </a:pPr>
            <a:r>
              <a:rPr lang="en-US" sz="1000" spc="100" kern="0" dirty="0">
                <a:solidFill>
                  <a:srgbClr val="56625D"/>
                </a:solidFill>
                <a:latin typeface="Courier New" pitchFamily="34" charset="0"/>
                <a:ea typeface="Courier New" pitchFamily="34" charset="-122"/>
                <a:cs typeface="Courier New" pitchFamily="34" charset="-120"/>
              </a:rPr>
              <a:t>AT 100x TRAFFIC</a:t>
            </a:r>
            <a:endParaRPr lang="en-US" sz="1000" dirty="0"/>
          </a:p>
        </p:txBody>
      </p:sp>
      <p:sp>
        <p:nvSpPr>
          <p:cNvPr id="6" name="Shape 4"/>
          <p:cNvSpPr/>
          <p:nvPr/>
        </p:nvSpPr>
        <p:spPr>
          <a:xfrm>
            <a:off x="7498080" y="2103120"/>
            <a:ext cx="3657600" cy="868680"/>
          </a:xfrm>
          <a:prstGeom prst="roundRect">
            <a:avLst>
              <a:gd name="adj" fmla="val 8421"/>
            </a:avLst>
          </a:prstGeom>
          <a:solidFill>
            <a:srgbClr val="DDE3FB"/>
          </a:solidFill>
          <a:ln w="15875">
            <a:solidFill>
              <a:srgbClr val="2B45D9"/>
            </a:solidFill>
            <a:prstDash val="solid"/>
          </a:ln>
        </p:spPr>
      </p:sp>
      <p:sp>
        <p:nvSpPr>
          <p:cNvPr id="7" name="Text 5"/>
          <p:cNvSpPr txBox="1"/>
          <p:nvPr/>
        </p:nvSpPr>
        <p:spPr>
          <a:xfrm>
            <a:off x="7726680" y="2231136"/>
            <a:ext cx="3200400" cy="320040"/>
          </a:xfrm>
          <a:prstGeom prst="rect">
            <a:avLst/>
          </a:prstGeom>
          <a:noFill/>
          <a:ln/>
        </p:spPr>
        <p:txBody>
          <a:bodyPr wrap="square" lIns="0" tIns="0" rIns="0" bIns="0" rtlCol="0" anchor="ctr"/>
          <a:lstStyle/>
          <a:p>
            <a:pPr indent="0" marL="0">
              <a:buNone/>
            </a:pPr>
            <a:r>
              <a:rPr lang="en-US" sz="1500" b="1" dirty="0">
                <a:solidFill>
                  <a:srgbClr val="111A17"/>
                </a:solidFill>
                <a:latin typeface="Arial" pitchFamily="34" charset="0"/>
                <a:ea typeface="Arial" pitchFamily="34" charset="-122"/>
                <a:cs typeface="Arial" pitchFamily="34" charset="-120"/>
              </a:rPr>
              <a:t>Queue</a:t>
            </a:r>
            <a:endParaRPr lang="en-US" sz="1500" dirty="0"/>
          </a:p>
        </p:txBody>
      </p:sp>
      <p:sp>
        <p:nvSpPr>
          <p:cNvPr id="8" name="Text 6"/>
          <p:cNvSpPr txBox="1"/>
          <p:nvPr/>
        </p:nvSpPr>
        <p:spPr>
          <a:xfrm>
            <a:off x="7726680" y="2560320"/>
            <a:ext cx="3200400" cy="274320"/>
          </a:xfrm>
          <a:prstGeom prst="rect">
            <a:avLst/>
          </a:prstGeom>
          <a:noFill/>
          <a:ln/>
        </p:spPr>
        <p:txBody>
          <a:bodyPr wrap="square" lIns="0" tIns="0" rIns="0" bIns="0" rtlCol="0" anchor="ctr"/>
          <a:lstStyle/>
          <a:p>
            <a:pPr indent="0" marL="0">
              <a:buNone/>
            </a:pPr>
            <a:r>
              <a:rPr lang="en-US" sz="1200" dirty="0">
                <a:solidFill>
                  <a:srgbClr val="56625D"/>
                </a:solidFill>
                <a:latin typeface="Calibri" pitchFamily="34" charset="0"/>
                <a:ea typeface="Calibri" pitchFamily="34" charset="-122"/>
                <a:cs typeface="Calibri" pitchFamily="34" charset="-120"/>
              </a:rPr>
              <a:t>in front of the decision log</a:t>
            </a:r>
            <a:endParaRPr lang="en-US" sz="1200" dirty="0"/>
          </a:p>
        </p:txBody>
      </p:sp>
      <p:sp>
        <p:nvSpPr>
          <p:cNvPr id="9" name="Shape 7"/>
          <p:cNvSpPr/>
          <p:nvPr/>
        </p:nvSpPr>
        <p:spPr>
          <a:xfrm>
            <a:off x="7498080" y="3154680"/>
            <a:ext cx="3657600" cy="868680"/>
          </a:xfrm>
          <a:prstGeom prst="roundRect">
            <a:avLst>
              <a:gd name="adj" fmla="val 8421"/>
            </a:avLst>
          </a:prstGeom>
          <a:solidFill>
            <a:srgbClr val="DDE3FB"/>
          </a:solidFill>
          <a:ln w="15875">
            <a:solidFill>
              <a:srgbClr val="2B45D9"/>
            </a:solidFill>
            <a:prstDash val="solid"/>
          </a:ln>
        </p:spPr>
      </p:sp>
      <p:sp>
        <p:nvSpPr>
          <p:cNvPr id="10" name="Text 8"/>
          <p:cNvSpPr txBox="1"/>
          <p:nvPr/>
        </p:nvSpPr>
        <p:spPr>
          <a:xfrm>
            <a:off x="7726680" y="3282696"/>
            <a:ext cx="3200400" cy="320040"/>
          </a:xfrm>
          <a:prstGeom prst="rect">
            <a:avLst/>
          </a:prstGeom>
          <a:noFill/>
          <a:ln/>
        </p:spPr>
        <p:txBody>
          <a:bodyPr wrap="square" lIns="0" tIns="0" rIns="0" bIns="0" rtlCol="0" anchor="ctr"/>
          <a:lstStyle/>
          <a:p>
            <a:pPr indent="0" marL="0">
              <a:buNone/>
            </a:pPr>
            <a:r>
              <a:rPr lang="en-US" sz="1500" b="1" dirty="0">
                <a:solidFill>
                  <a:srgbClr val="111A17"/>
                </a:solidFill>
                <a:latin typeface="Arial" pitchFamily="34" charset="0"/>
                <a:ea typeface="Arial" pitchFamily="34" charset="-122"/>
                <a:cs typeface="Arial" pitchFamily="34" charset="-120"/>
              </a:rPr>
              <a:t>Read replicas</a:t>
            </a:r>
            <a:endParaRPr lang="en-US" sz="1500" dirty="0"/>
          </a:p>
        </p:txBody>
      </p:sp>
      <p:sp>
        <p:nvSpPr>
          <p:cNvPr id="11" name="Text 9"/>
          <p:cNvSpPr txBox="1"/>
          <p:nvPr/>
        </p:nvSpPr>
        <p:spPr>
          <a:xfrm>
            <a:off x="7726680" y="3611880"/>
            <a:ext cx="3200400" cy="274320"/>
          </a:xfrm>
          <a:prstGeom prst="rect">
            <a:avLst/>
          </a:prstGeom>
          <a:noFill/>
          <a:ln/>
        </p:spPr>
        <p:txBody>
          <a:bodyPr wrap="square" lIns="0" tIns="0" rIns="0" bIns="0" rtlCol="0" anchor="ctr"/>
          <a:lstStyle/>
          <a:p>
            <a:pPr indent="0" marL="0">
              <a:buNone/>
            </a:pPr>
            <a:r>
              <a:rPr lang="en-US" sz="1200" dirty="0">
                <a:solidFill>
                  <a:srgbClr val="56625D"/>
                </a:solidFill>
                <a:latin typeface="Calibri" pitchFamily="34" charset="0"/>
                <a:ea typeface="Calibri" pitchFamily="34" charset="-122"/>
                <a:cs typeface="Calibri" pitchFamily="34" charset="-120"/>
              </a:rPr>
              <a:t>for the console’s reporting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420"/>
        </a:solidFill>
      </p:bgPr>
    </p:bg>
    <p:spTree>
      <p:nvGrpSpPr>
        <p:cNvPr id="1" name=""/>
        <p:cNvGrpSpPr/>
        <p:nvPr/>
      </p:nvGrpSpPr>
      <p:grpSpPr>
        <a:xfrm>
          <a:off x="0" y="0"/>
          <a:ext cx="0" cy="0"/>
          <a:chOff x="0" y="0"/>
          <a:chExt cx="0" cy="0"/>
        </a:xfrm>
      </p:grpSpPr>
      <p:sp>
        <p:nvSpPr>
          <p:cNvPr id="2" name="Text 0"/>
          <p:cNvSpPr txBox="1"/>
          <p:nvPr/>
        </p:nvSpPr>
        <p:spPr>
          <a:xfrm>
            <a:off x="777240" y="2286000"/>
            <a:ext cx="8229600"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THANK YOU</a:t>
            </a:r>
            <a:endParaRPr lang="en-US" sz="6000" dirty="0"/>
          </a:p>
        </p:txBody>
      </p:sp>
      <p:sp>
        <p:nvSpPr>
          <p:cNvPr id="3" name="Text 1"/>
          <p:cNvSpPr txBox="1"/>
          <p:nvPr/>
        </p:nvSpPr>
        <p:spPr>
          <a:xfrm>
            <a:off x="822960" y="3429000"/>
            <a:ext cx="7315200" cy="457200"/>
          </a:xfrm>
          <a:prstGeom prst="rect">
            <a:avLst/>
          </a:prstGeom>
          <a:noFill/>
          <a:ln/>
        </p:spPr>
        <p:txBody>
          <a:bodyPr wrap="square" lIns="0" tIns="0" rIns="0" bIns="0" rtlCol="0" anchor="ctr"/>
          <a:lstStyle/>
          <a:p>
            <a:pPr indent="0" marL="0">
              <a:buNone/>
            </a:pPr>
            <a:r>
              <a:rPr lang="en-US" sz="2200" dirty="0">
                <a:solidFill>
                  <a:srgbClr val="E9EDEA"/>
                </a:solidFill>
                <a:latin typeface="Calibri" pitchFamily="34" charset="0"/>
                <a:ea typeface="Calibri" pitchFamily="34" charset="-122"/>
                <a:cs typeface="Calibri" pitchFamily="34" charset="-120"/>
              </a:rPr>
              <a:t>Questions?</a:t>
            </a:r>
            <a:endParaRPr lang="en-US" sz="2200" dirty="0"/>
          </a:p>
        </p:txBody>
      </p:sp>
      <p:sp>
        <p:nvSpPr>
          <p:cNvPr id="4" name="Text 2"/>
          <p:cNvSpPr txBox="1"/>
          <p:nvPr/>
        </p:nvSpPr>
        <p:spPr>
          <a:xfrm>
            <a:off x="822960" y="4206240"/>
            <a:ext cx="7315200" cy="731520"/>
          </a:xfrm>
          <a:prstGeom prst="rect">
            <a:avLst/>
          </a:prstGeom>
          <a:noFill/>
          <a:ln/>
        </p:spPr>
        <p:txBody>
          <a:bodyPr wrap="square" lIns="0" tIns="0" rIns="0" bIns="0" rtlCol="0" anchor="ctr"/>
          <a:lstStyle/>
          <a:p>
            <a:pPr indent="0" marL="0">
              <a:lnSpc>
                <a:spcPts val="2200"/>
              </a:lnSpc>
              <a:buNone/>
            </a:pPr>
            <a:r>
              <a:rPr lang="en-US" sz="1200" dirty="0">
                <a:solidFill>
                  <a:srgbClr val="9AA8A1"/>
                </a:solidFill>
                <a:latin typeface="Courier New" pitchFamily="34" charset="0"/>
                <a:ea typeface="Courier New" pitchFamily="34" charset="-122"/>
                <a:cs typeface="Courier New" pitchFamily="34" charset="-120"/>
              </a:rPr>
              <a:t>github.com/tsaipraveen99/mini-ise</a:t>
            </a:r>
            <a:endParaRPr lang="en-US" sz="1200" dirty="0"/>
          </a:p>
          <a:p>
            <a:pPr indent="0" marL="0">
              <a:lnSpc>
                <a:spcPts val="2200"/>
              </a:lnSpc>
              <a:buNone/>
            </a:pPr>
            <a:r>
              <a:rPr lang="en-US" sz="1200" dirty="0">
                <a:solidFill>
                  <a:srgbClr val="9AA8A1"/>
                </a:solidFill>
                <a:latin typeface="Courier New" pitchFamily="34" charset="0"/>
                <a:ea typeface="Courier New" pitchFamily="34" charset="-122"/>
                <a:cs typeface="Courier New" pitchFamily="34" charset="-120"/>
              </a:rPr>
              <a:t>mini-ise.vercel.app</a:t>
            </a:r>
            <a:endParaRPr lang="en-US" sz="1200" dirty="0"/>
          </a:p>
        </p:txBody>
      </p:sp>
      <p:sp>
        <p:nvSpPr>
          <p:cNvPr id="5" name="Shape 3"/>
          <p:cNvSpPr/>
          <p:nvPr/>
        </p:nvSpPr>
        <p:spPr>
          <a:xfrm>
            <a:off x="9692640" y="2377440"/>
            <a:ext cx="1737360" cy="658368"/>
          </a:xfrm>
          <a:prstGeom prst="roundRect">
            <a:avLst>
              <a:gd name="adj" fmla="val 13889"/>
            </a:avLst>
          </a:prstGeom>
          <a:solidFill>
            <a:srgbClr val="1B2420"/>
          </a:solidFill>
          <a:ln w="19050">
            <a:solidFill>
              <a:srgbClr val="2B45D9"/>
            </a:solidFill>
            <a:prstDash val="solid"/>
          </a:ln>
        </p:spPr>
      </p:sp>
      <p:sp>
        <p:nvSpPr>
          <p:cNvPr id="6" name="Shape 4"/>
          <p:cNvSpPr/>
          <p:nvPr/>
        </p:nvSpPr>
        <p:spPr>
          <a:xfrm>
            <a:off x="9692640" y="3246120"/>
            <a:ext cx="1737360" cy="658368"/>
          </a:xfrm>
          <a:prstGeom prst="roundRect">
            <a:avLst>
              <a:gd name="adj" fmla="val 13889"/>
            </a:avLst>
          </a:prstGeom>
          <a:solidFill>
            <a:srgbClr val="1B2420"/>
          </a:solidFill>
          <a:ln w="19050">
            <a:solidFill>
              <a:srgbClr val="2B45D9"/>
            </a:solidFill>
            <a:prstDash val="solid"/>
          </a:ln>
        </p:spPr>
      </p:sp>
      <p:sp>
        <p:nvSpPr>
          <p:cNvPr id="7" name="Shape 5"/>
          <p:cNvSpPr/>
          <p:nvPr/>
        </p:nvSpPr>
        <p:spPr>
          <a:xfrm>
            <a:off x="9692640" y="4114800"/>
            <a:ext cx="1737360" cy="658368"/>
          </a:xfrm>
          <a:prstGeom prst="roundRect">
            <a:avLst>
              <a:gd name="adj" fmla="val 13889"/>
            </a:avLst>
          </a:prstGeom>
          <a:solidFill>
            <a:srgbClr val="1B2420"/>
          </a:solidFill>
          <a:ln w="19050">
            <a:solidFill>
              <a:srgbClr val="2B45D9"/>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ISE</dc:title>
  <dc:subject>PptxGenJS Presentation</dc:subject>
  <dc:creator>Sai Praveen Tatiparthi</dc:creator>
  <cp:lastModifiedBy>Sai Praveen Tatiparthi</cp:lastModifiedBy>
  <cp:revision>1</cp:revision>
  <dcterms:created xsi:type="dcterms:W3CDTF">2026-09-22T20:01:07Z</dcterms:created>
  <dcterms:modified xsi:type="dcterms:W3CDTF">2026-09-22T20:01:07Z</dcterms:modified>
</cp:coreProperties>
</file>